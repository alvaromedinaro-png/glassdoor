
<file path=[Content_Types].xml><?xml version="1.0" encoding="utf-8"?>
<ns0:Types xmlns:ns0="http://schemas.openxmlformats.org/package/2006/content-types">
  <ns0:Default ContentType="application/xml" Extension="xml"/>
  <ns0:Default ContentType="application/vnd.openxmlformats-officedocument.obfuscatedFont" Extension="odttf"/>
  <ns0:Default ContentType="application/vnd.openxmlformats-package.relationships+xml" Extension="rels"/>
  <ns0:Override ContentType="application/vnd.openxmlformats-officedocument.presentationml.slideLayout+xml" PartName="/ppt/slideLayouts/slideLayout3.xml"/>
  <ns0:Override ContentType="application/vnd.openxmlformats-officedocument.presentationml.slideLayout+xml" PartName="/ppt/slideLayouts/slideLayout4.xml"/>
  <ns0:Override ContentType="application/vnd.openxmlformats-officedocument.presentationml.slideLayout+xml" PartName="/ppt/slideLayouts/slideLayout5.xml"/>
  <ns0:Override ContentType="application/vnd.openxmlformats-officedocument.presentationml.slideLayout+xml" PartName="/ppt/slideLayouts/slideLayout2.xml"/>
  <ns0:Override ContentType="application/vnd.openxmlformats-officedocument.presentationml.slideLayout+xml" PartName="/ppt/slideLayouts/slideLayout11.xml"/>
  <ns0:Override ContentType="application/vnd.openxmlformats-officedocument.presentationml.slideLayout+xml" PartName="/ppt/slideLayouts/slideLayout1.xml"/>
  <ns0:Override ContentType="application/vnd.openxmlformats-officedocument.presentationml.slideLayout+xml" PartName="/ppt/slideLayouts/slideLayout10.xml"/>
  <ns0:Override ContentType="application/vnd.openxmlformats-officedocument.presentationml.slideLayout+xml" PartName="/ppt/slideLayouts/slideLayout7.xml"/>
  <ns0:Override ContentType="application/vnd.openxmlformats-officedocument.presentationml.slideLayout+xml" PartName="/ppt/slideLayouts/slideLayout6.xml"/>
  <ns0:Override ContentType="application/vnd.openxmlformats-officedocument.presentationml.slideLayout+xml" PartName="/ppt/slideLayouts/slideLayout8.xml"/>
  <ns0:Override ContentType="application/vnd.openxmlformats-officedocument.presentationml.slideLayout+xml" PartName="/ppt/slideLayouts/slideLayout9.xml"/>
  <ns0:Override ContentType="application/vnd.openxmlformats-officedocument.presentationml.slideMaster+xml" PartName="/ppt/slideMasters/slideMaster1.xml"/>
  <ns0:Override ContentType="application/vnd.openxmlformats-officedocument.presentationml.notesMaster+xml" PartName="/ppt/notesMasters/notesMaster1.xml"/>
  <ns0:Override ContentType="application/vnd.openxmlformats-officedocument.presentationml.presentation.main+xml" PartName="/ppt/presentation.xml"/>
  <ns0:Override ContentType="application/vnd.openxmlformats-officedocument.presentationml.presProps+xml" PartName="/ppt/presProps.xml"/>
  <ns0:Override ContentType="application/vnd.openxmlformats-officedocument.theme+xml" PartName="/ppt/theme/theme1.xml"/>
  <ns0:Override ContentType="application/vnd.openxmlformats-officedocument.theme+xml" PartName="/ppt/theme/theme2.xml"/>
  <ns0:Override ContentType="application/vnd.openxmlformats-officedocument.presentationml.viewProps+xml" PartName="/ppt/viewProps.xml"/>
  <ns0:Default Extension="png" ContentType="image/png"/>
  <ns0:Override PartName="/docProps/app.xml" ContentType="application/vnd.openxmlformats-officedocument.extended-properties+xml"/>
  <ns0:Override PartName="/ppt/slides/slide1.xml" ContentType="application/vnd.openxmlformats-officedocument.presentationml.slide+xml"/>
  <ns0:Override PartName="/ppt/notesSlides/notesSlide1.xml" ContentType="application/vnd.openxmlformats-officedocument.presentationml.notesSlide+xml"/>
  <ns0:Override PartName="/ppt/slides/slide2.xml" ContentType="application/vnd.openxmlformats-officedocument.presentationml.slide+xml"/>
  <ns0:Override PartName="/ppt/notesSlides/notesSlide2.xml" ContentType="application/vnd.openxmlformats-officedocument.presentationml.notesSlide+xml"/>
  <ns0:Override PartName="/ppt/slides/slide3.xml" ContentType="application/vnd.openxmlformats-officedocument.presentationml.slide+xml"/>
  <ns0:Override PartName="/ppt/notesSlides/notesSlide3.xml" ContentType="application/vnd.openxmlformats-officedocument.presentationml.notesSlide+xml"/>
  <ns0:Override PartName="/ppt/slides/slide4.xml" ContentType="application/vnd.openxmlformats-officedocument.presentationml.slide+xml"/>
  <ns0:Override PartName="/ppt/notesSlides/notesSlide4.xml" ContentType="application/vnd.openxmlformats-officedocument.presentationml.notesSlide+xml"/>
  <ns0:Override PartName="/ppt/slides/slide5.xml" ContentType="application/vnd.openxmlformats-officedocument.presentationml.slide+xml"/>
  <ns0:Override PartName="/ppt/notesSlides/notesSlide5.xml" ContentType="application/vnd.openxmlformats-officedocument.presentationml.notesSlide+xml"/>
  <ns0:Override PartName="/ppt/slides/slide6.xml" ContentType="application/vnd.openxmlformats-officedocument.presentationml.slide+xml"/>
  <ns0:Override PartName="/ppt/notesSlides/notesSlide6.xml" ContentType="application/vnd.openxmlformats-officedocument.presentationml.notesSlide+xml"/>
  <ns0:Override PartName="/ppt/slides/slide7.xml" ContentType="application/vnd.openxmlformats-officedocument.presentationml.slide+xml"/>
  <ns0:Override PartName="/ppt/notesSlides/notesSlide7.xml" ContentType="application/vnd.openxmlformats-officedocument.presentationml.notesSlide+xml"/>
  <ns0:Override PartName="/ppt/slides/slide8.xml" ContentType="application/vnd.openxmlformats-officedocument.presentationml.slide+xml"/>
  <ns0:Override PartName="/ppt/notesSlides/notesSlide8.xml" ContentType="application/vnd.openxmlformats-officedocument.presentationml.notesSlide+xml"/>
  <ns0:Override PartName="/ppt/slides/slide9.xml" ContentType="application/vnd.openxmlformats-officedocument.presentationml.slide+xml"/>
  <ns0:Override PartName="/ppt/notesSlides/notesSlide9.xml" ContentType="application/vnd.openxmlformats-officedocument.presentationml.notesSlide+xml"/>
  <ns0:Override PartName="/ppt/slides/slide10.xml" ContentType="application/vnd.openxmlformats-officedocument.presentationml.slide+xml"/>
  <ns0:Override PartName="/ppt/notesSlides/notesSlide10.xml" ContentType="application/vnd.openxmlformats-officedocument.presentationml.notesSlide+xml"/>
</ns0:Types>
</file>

<file path=_rels/.rels><?xml version="1.0" encoding="UTF-8" standalone="yes"?>
<ns0:Relationships xmlns:ns0="http://schemas.openxmlformats.org/package/2006/relationships"><ns0:Relationship Id="rId1" Type="http://schemas.openxmlformats.org/officeDocument/2006/relationships/officeDocument" Target="ppt/presentation.xml" /><ns0:Relationship Id="rId2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 type="screen16x9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ns3:sldGuideLst>
        <ns3:guide id="1" orient="horz" pos="1620">
          <ns3:clr>
            <a:srgbClr val="747775"/>
          </ns3:clr>
        </ns3:guide>
        <ns3:guide id="2" pos="2880">
          <ns3:clr>
            <a:srgbClr val="747775"/>
          </ns3:clr>
        </ns3:guide>
      </ns3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
<ns0:Relationships xmlns:ns0="http://schemas.openxmlformats.org/package/2006/relationships"><ns0:Relationship Id="rId1" Type="http://schemas.openxmlformats.org/officeDocument/2006/relationships/theme" Target="theme/theme2.xml" /><ns0:Relationship Id="rId2" Type="http://schemas.openxmlformats.org/officeDocument/2006/relationships/viewProps" Target="viewProps.xml" /><ns0:Relationship Id="rId3" Type="http://schemas.openxmlformats.org/officeDocument/2006/relationships/presProps" Target="presProps.xml" /><ns0:Relationship Id="rId4" Type="http://schemas.openxmlformats.org/officeDocument/2006/relationships/slideMaster" Target="slideMasters/slideMaster1.xml" /><ns0:Relationship Id="rId5" Type="http://schemas.openxmlformats.org/officeDocument/2006/relationships/notesMaster" Target="notesMasters/notesMaster1.xml" /><ns0:Relationship Id="rId6" Type="http://schemas.openxmlformats.org/officeDocument/2006/relationships/slide" Target="slides/slide1.xml" /><ns0:Relationship Id="rId7" Type="http://schemas.openxmlformats.org/officeDocument/2006/relationships/slide" Target="slides/slide2.xml" /><ns0:Relationship Id="rId8" Type="http://schemas.openxmlformats.org/officeDocument/2006/relationships/slide" Target="slides/slide3.xml" /><ns0:Relationship Id="rId9" Type="http://schemas.openxmlformats.org/officeDocument/2006/relationships/slide" Target="slides/slide4.xml" /><ns0:Relationship Id="rId10" Type="http://schemas.openxmlformats.org/officeDocument/2006/relationships/slide" Target="slides/slide5.xml" /><ns0:Relationship Id="rId11" Type="http://schemas.openxmlformats.org/officeDocument/2006/relationships/slide" Target="slides/slide6.xml" /><ns0:Relationship Id="rId12" Type="http://schemas.openxmlformats.org/officeDocument/2006/relationships/slide" Target="slides/slide7.xml" /><ns0:Relationship Id="rId13" Type="http://schemas.openxmlformats.org/officeDocument/2006/relationships/slide" Target="slides/slide8.xml" /><ns0:Relationship Id="rId14" Type="http://schemas.openxmlformats.org/officeDocument/2006/relationships/slide" Target="slides/slide9.xml" /><ns0:Relationship Id="rId15" Type="http://schemas.openxmlformats.org/officeDocument/2006/relationships/slide" Target="slides/slide10.xml" /></ns0: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1.xml" /></ns0:Relationships>
</file>

<file path=ppt/notesSlides/_rels/notesSlide2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2.xml" /></ns0:Relationships>
</file>

<file path=ppt/notesSlides/_rels/notesSlide3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3.xml" /></ns0:Relationships>
</file>

<file path=ppt/notesSlides/_rels/notesSlide4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4.xml" /></ns0:Relationships>
</file>

<file path=ppt/notesSlides/_rels/notesSlide5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5.xml" /></ns0:Relationships>
</file>

<file path=ppt/notesSlides/_rels/notesSlide6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6.xml" /></ns0:Relationships>
</file>

<file path=ppt/notesSlides/_rels/notesSlide7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7.xml" /></ns0:Relationships>
</file>

<file path=ppt/notesSlides/_rels/notesSlide8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8.xml" /></ns0:Relationships>
</file>

<file path=ppt/notesSlides/_rels/notesSlide9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9.xml" /></ns0:Relationships>
</file>

<file path=ppt/notesSlides/_rels/notesSlide10.xml.rels><?xml version="1.0" encoding="UTF-8" standalone="yes"?>
<ns0:Relationships xmlns:ns0="http://schemas.openxmlformats.org/package/2006/relationships"><ns0:Relationship Id="rId1" Type="http://schemas.openxmlformats.org/officeDocument/2006/relationships/notesMaster" Target="../notesMasters/notesMaster1.xml" /><ns0:Relationship Id="rId2" Type="http://schemas.openxmlformats.org/officeDocument/2006/relationships/slide" Target="../slides/slide10.xml" /></ns0:Relationships>
</file>

<file path=ppt/notesSlides/notesSlide1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Liderazgo: primera señal para investigar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Celdas carga, eda_resumen y conclusiones_calculo. Hallazgo central: liderazgo presenta peor rating y más no recomendación; compensación requiere diagnóstico; aprendizaje es una posible fortaleza sensible al etiquetado. Peers del mismo sector y orden de magnitud, no plantillas idénticas. La competencia por perfiles técnicos se infiere por actividad, sin medir movilidad. Tamaños históricos de fechas diferentes: CompuCom 11.000 (2018), Infogain 5.000 (2021), WWT &gt;8.000 (2022), Rackspace ≈6.800 (2022). Fuentes primarias: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https://www.sec.gov/Archives/edgar/data/800240/000119312518164703/d568569dex992.htm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https://www.apax.com/news-views/apax-funds-to-acquire-infogain-from-chryscapital/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https://www.wwt.com/press-release/wwt-receives-solution-provider-of-the-year-award-for-growth-from-intel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https://www.sec.gov/Archives/edgar/data/1810019/000181001923000034/rxt-20221231.htm</a:t>
            </a:r>
            <a:endParaRPr lang="es-ES" sz="108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CompuCom queda por debajo de sus referencias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 eda_resumen. Rating sobre 1–5. Media peer aritmética: cada empresa pesa lo mismo. La recomendación incluye o=sin opinión. Estas son opiniones de participantes, no una encuesta representativa de empleados.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Gráfica 01_rating_recomendacion: notebook Glassdoor_ejemplo.ipynb, celda grafica_01_rating_recomendacion (posición 9, contando desde 1), apartado 1. EDA. Tablas: resumen. Se incorpora exactamente el PNG mostrado allí. Rating: media de overall_rating, en puntos sobre 5. Recomendación: porcentaje sobre respuestas disponibles, incluyendo «Sin opinión». Cada empresa aporta 1.000 reseñas. Las reseñas no representan a toda la plantilla.</a:t>
            </a:r>
            <a:endParaRPr lang="es-ES" sz="108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 puntuación mejora; conviene entender por qué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 eda_temporal. Recuentos anuales completos disponibles en el notebook y CSV. La composición de reseñas puede cambiar con el tiempo. No se atribuye la evolución a una política, a una intervención ni a la pandemia. Acción: contrastar hitos internos y segmentar si hay datos por equipo/ubicación.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Gráfica 03_evolucion_rating: notebook Glassdoor_ejemplo.ipynb, celda grafica_03_evolucion_rating (posición 15, contando desde 1), apartado 1. EDA. Tablas: medias_anuales, conteos_anuales. Se incorpora exactamente el PNG mostrado allí. Rating medio por año y empresa. Solo se dibujan años con al menos MIN_RESENAS_ANIO = 20 puntuaciones. Los recuentos están en conteos_anuales. 2018 y 2023 son parciales; la evolución no demuestra efectos de políticas internas.</a:t>
            </a:r>
            <a:endParaRPr lang="es-ES" sz="108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Aprendizaje: una fortaleza que aún hay que validar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Celdas taxonomia_calculo, comparacion_calculo y sensibilidad_etiquetas_calculo. Siete categorías mostradas; las restantes siguen en el denominador. Aprendizaje aparece en 6,5% de pros de CompuCom frente a 2,67% de media peer. Su gap de balance principal +3,83 pp cambia a −1,30..+4,83 pp con recodificaciones individuales plausibles. Estos rangos no son intervalos de confianza. Conciliación también cambia de signo con etiquetas alternativas. Cero asignaciones a formación/cultura en cons no demuestra ausencia de críticas; las hay en textos mixtos y no agrupados.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Gráfica 06_categorias_pros_cons: notebook Glassdoor_ejemplo.ipynb, celda grafica_06_categorias_pros_cons (posición 32, contando desde 1), apartado 4. Comparación con peers. Tablas: comparacion_peers. Se incorpora exactamente el PNG mostrado allí. Se muestran siete categorías de negocio en pros y cons; el resto sigue en el denominador. Porcentajes sobre todos los textos válidos del corpus de cada empresa. Media peer aritmética de Infogain, WWT y Rackspace. Un 0 % de formación en cons corresponde a la etiqueta principal, no prueba ausencia de quejas.</a:t>
            </a:r>
            <a:endParaRPr lang="es-ES" sz="108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Liderazgo y compensación muestran desventaja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 comparacion_calculo. Balance por categoría: %pros − %cons; gap = balance CompuCom − media aritmética de los tres peers. Los porcentajes son relativos y usan todos los textos válidos, incluidos ambiguos/no asignados. Gap negativo no demuestra daño; se contrasta con ratings y recomendación. Aprendizaje es provisional y cambia de signo con alternativas de etiquetado.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Gráfica 07_gap_balance: notebook Glassdoor_ejemplo.ipynb, celda grafica_07_gap_balance (posición 34, contando desde 1), apartado 4. Comparación con peers. Tablas: comparacion_peers. Se incorpora exactamente el PNG mostrado allí. Balance neto = % pros − % cons. Gap = balance de CompuCom − media aritmética del balance de los tres peers. Unidad: puntos porcentuales (pp). Negativo significa desventaja relativa dentro de esta muestra; se requiere contrastar con rating y recomendación.</a:t>
            </a:r>
            <a:endParaRPr lang="es-ES" sz="108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 quejas de liderazgo coinciden con peor valoración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 comparacion_calculo, contraste_compucom. Liderazgo n=117, resto=883: rating 2,27 vs 2,99; no recomienda 64,10% vs 38,84%. Compensación n=161, resto=839: rating 2,99 vs 2,89; no recomienda 36,65% vs 42,79%. Resto significa todas las reseñas no asignadas a la categoría correspondiente, no necesariamente sin menciones: el modelo usa una categoría dominante y mantiene outliers. Los denominadores de recomendación incluyen sin opinión. No se infiere causalidad, significación ni ausencia de problemas salariales.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Gráfica 08_contraste_rating_recommend: notebook Glassdoor_ejemplo.ipynb, celda grafica_08_contraste_rating_recommend (posición 36, contando desde 1), apartado 4. Comparación con peers. Tablas: contraste_compucom. Se incorpora exactamente el PNG mostrado allí. En CompuCom se comparan reseñas cuyos cons se asignan a cada categoría con el resto de cons válidos. Rating sobre puntuaciones disponibles; no recomendaría sobre respuestas disponibles, incluyendo «Sin opinión». Los recuentos por indicador están en contraste_compucom. «Resto» significa sin asignación a esa categoría, no ausencia verificada del problema. Asociación descriptiva, sin causalidad.</a:t>
            </a:r>
            <a:endParaRPr lang="es-ES" sz="108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Liderazgo aparece más entre antiguos empleados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 actuales_antiguos_calculo. Porcentajes de cons por grupo, incluidos outliers. Media aritmética de antiguos de Infogain/WWT/Rackspace. Liderazgo 13,85% antiguos CompuCom, 9,85% actuales y 11,15% media de antiguos peers. Experiencias asociadas a salidas, no causas de rotación verificadas. El rating más bajo de antiguos puede reflejar selección; no se estima tasa de rotación.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Gráfica 09_actuales_antiguos: notebook Glassdoor_ejemplo.ipynb, celda grafica_09_actuales_antiguos (posición 44, contando desde 1), apartado 5. Actuales y antiguos. Tablas: tabla_actuales_vs_antiguos, comparacion_cons_antiguos_peers, n_compucom_situacion, n_antiguos_por_empresa. Se incorpora exactamente el PNG mostrado allí. Porcentajes sobre cons válidos de cada grupo: actuales y antiguos de CompuCom, y media aritmética de antiguos de los tres peers. Los denominadores se muestran en este apartado; los grupos tienen tamaños distintos. Son experiencias asociadas a salidas, no motivos de rotación demostrados.</a:t>
            </a:r>
            <a:endParaRPr lang="es-ES" sz="108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Investigar liderazgo; auditar compensación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 priorizacion_calculo. X=%cons CompuCom, Y=−gap de balance: positivo = peor que peers. Tamaño depende del número de casos. Rojo: menor rating y más no recomendación; verde azulado: no se confirman ambos. Se excluyen categorías no accionables y sin casos. Compensación es frecuente y tiene desventaja, pero sus indicadores no confirman peor experiencia; diagnosticar antes de decidir cambios. El umbral de 5% ordena trabajo, no demuestra importancia causal o estadística.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Gráfica 10_matriz_priorizacion: notebook Glassdoor_ejemplo.ipynb, celda grafica_10_matriz_priorizacion (posición 48, contando desde 1), apartado 6. Priorización. Tablas: matriz_priorizacion. Se incorpora exactamente el PNG mostrado allí. Eje X: peso de la categoría en cons de CompuCom. Eje Y: desventaja = −gap de balance, en pp; mayor valor indica peor posición relativa. Rojo: menor rating y mayor no recomendación; azul: el contraste no confirma ambos indicadores. El tamaño refleja casos. El corte de 5 % es operativo, no estadístico. No estima impacto causal ni ahorro.</a:t>
            </a:r>
            <a:endParaRPr lang="es-ES" sz="108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Tres acciones ligadas a la evidencia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 conclusiones_calculo. Se prioriza señal coherente de liderazgo, diagnóstico de compensación y validación de aprendizaje. Los plazos son propuestas, no resultados observados.</a:t>
            </a:r>
            <a:endParaRPr lang="es-ES" sz="108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showMasterSp="0">
  <p:cSld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/>
          <p:nvPr>
            <p:ph type="sldImg" idx="2"/>
          </p:nvPr>
        </p:nvSpPr>
        <p:spPr/>
      </p:sp>
      <p:sp>
        <p:nvSpPr>
          <p:cNvPr id="3" name="Speaker notes"/>
          <p:cNvSpPr txBox="1"/>
          <p:nvPr>
            <p:ph type="body" idx="1"/>
          </p:nvPr>
        </p:nvSpPr>
        <p:spPr/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Validar dentro de la empresa antes de generalizar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Fuente: Parquet del caso + Glassdoor_ejemplo.ipynb; muestra fija, semilla 42.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Cobertura observada: 27/07/2018–04/07/2023. 4.000 reseñas, 1.000 por firma. Media peer aritmética, con el mismo peso para Infogain, World Wide Technology y Rackspace. Reseñas no equivalen a plantilla.</a:t>
            </a:r>
            <a:endParaRPr lang="es-ES" sz="1080"/>
          </a:p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Celdas sentimiento_calculo, sentimiento_revision, topics_calculo, taxonomia_calculo y outliers_revision. CompuCom cons: 389/1.000 accionables, 74/1.000 sin aspecto concreto, 95/1.000 mixtos y 442/1.000 no asignados. Se mantienen en denominadores y no se fuerzan a categorías; hay quejas de sueldo y gestión también entre outliers. Sentimiento: mayoría de pros positivos y cons negativos; 13 cons truncados de 4.000, 0 pros. Correspondencia con el campo y confianza del modelo no equivalen a precisión. Muestra manual discordante no permite estimarla. Un transformer inglés binario preentrenado aporta control rápido de polaridad; máximo 512 tokens evita errores pero puede perder contexto. Modelos comunes de topics (pros y cons separados, las cuatro firmas juntas) evitan comparar categorías incompatibles. Embeddings agrupan sinónimos; min_df=5 reduce términos aislados; grupos mínimos de 30 textos (0,75% del corpus) evitan priorizar anécdotas pero pueden ocultar minorías. Leaf en cons separa asuntos revisables tras un ajuste inicial genérico; categorías revisadas traducen patrones a palancas de RR. HH. Limitaciones: autoselección, mezcla de países/puestos, muestreo y etiquetas imperfectas. Próximos pasos: entrevistas/pulsos internos; segmentación por país/puesto si hay datos; revisión humana adicional y evaluar clasificación multietiqueta si hay etiquetas suficientes.</a:t>
            </a:r>
            <a:endParaRPr lang="es-ES" sz="1080"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1.xml" /></ns0:Relationships>
</file>

<file path=ppt/slides/_rels/slide2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2.xml" /><ns0:Relationship Id="rId3" Type="http://schemas.openxmlformats.org/officeDocument/2006/relationships/image" Target="../media/glassdoor_18d17e2a11459fa53d74c838.png" /></ns0:Relationships>
</file>

<file path=ppt/slides/_rels/slide3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3.xml" /><ns0:Relationship Id="rId3" Type="http://schemas.openxmlformats.org/officeDocument/2006/relationships/image" Target="../media/glassdoor_dbd6529c7e25faa1bf45f5c1.png" /></ns0:Relationships>
</file>

<file path=ppt/slides/_rels/slide4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4.xml" /><ns0:Relationship Id="rId3" Type="http://schemas.openxmlformats.org/officeDocument/2006/relationships/image" Target="../media/glassdoor_cb209b22f886eb5b0b2e96b1.png" /></ns0:Relationships>
</file>

<file path=ppt/slides/_rels/slide5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5.xml" /><ns0:Relationship Id="rId3" Type="http://schemas.openxmlformats.org/officeDocument/2006/relationships/image" Target="../media/glassdoor_a655bb8b39598bee9b23e8c3.png" /></ns0:Relationships>
</file>

<file path=ppt/slides/_rels/slide6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6.xml" /><ns0:Relationship Id="rId3" Type="http://schemas.openxmlformats.org/officeDocument/2006/relationships/image" Target="../media/glassdoor_a256cd3045cdaa426ad7a33c.png" /></ns0:Relationships>
</file>

<file path=ppt/slides/_rels/slide7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7.xml" /><ns0:Relationship Id="rId3" Type="http://schemas.openxmlformats.org/officeDocument/2006/relationships/image" Target="../media/glassdoor_b4c4e69d0ef943c96ea61544.png" /></ns0:Relationships>
</file>

<file path=ppt/slides/_rels/slide8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8.xml" /><ns0:Relationship Id="rId3" Type="http://schemas.openxmlformats.org/officeDocument/2006/relationships/image" Target="../media/glassdoor_ee84443204006bdaac05d9c0.png" /></ns0:Relationships>
</file>

<file path=ppt/slides/_rels/slide9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9.xml" /></ns0:Relationships>
</file>

<file path=ppt/slides/_rels/slide10.xml.rels><?xml version="1.0" encoding="UTF-8" standalone="yes"?>
<ns0:Relationships xmlns:ns0="http://schemas.openxmlformats.org/package/2006/relationships"><ns0:Relationship Id="rId1" Type="http://schemas.openxmlformats.org/officeDocument/2006/relationships/slideLayout" Target="../slideLayouts/slideLayout11.xml" /><ns0:Relationship Id="rId2" Type="http://schemas.openxmlformats.org/officeDocument/2006/relationships/notesSlide" Target="../notesSlides/notesSlide10.xml" /></ns0:Relationships>
</file>

<file path=ppt/slides/slide1.xml><?xml version="1.0" encoding="utf-8"?>
<p:sld xmlns:a="http://schemas.openxmlformats.org/drawingml/2006/main" xmlns:p="http://schemas.openxmlformats.org/presentationml/2006/main" showMasterSp="0">
  <p:cSld name="Liderazgo: primera señal para investigar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COMPUCOM · DIAGNÓSTICO DE MARCA EMPLEADORA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Liderazgo: primera señal para investigar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Qué mejorar para retener talento y qué validar antes de atraer candidatos.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Reseñas del 27/07/2018–04/07/2023. Comparación descriptiva; no demuestra causas de rotación.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01</a:t>
            </a:r>
            <a:endParaRPr lang="es-ES" sz="1080"/>
          </a:p>
        </p:txBody>
      </p:sp>
      <p:sp>
        <p:nvSpPr>
          <p:cNvPr id="8" name="Rectangle 8"/>
          <p:cNvSpPr/>
          <p:nvPr/>
        </p:nvSpPr>
        <p:spPr>
          <a:xfrm>
            <a:off x="495300" y="2171700"/>
            <a:ext cx="3467100" cy="187452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9" name="Rectangle 9"/>
          <p:cNvSpPr/>
          <p:nvPr/>
        </p:nvSpPr>
        <p:spPr>
          <a:xfrm>
            <a:off x="495300" y="2171700"/>
            <a:ext cx="3467100" cy="60960"/>
          </a:xfrm>
          <a:prstGeom prst="rect">
            <a:avLst/>
          </a:prstGeom>
          <a:solidFill>
            <a:srgbClr val="BB5148"/>
          </a:solidFill>
          <a:ln w="7620"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685800" y="2392680"/>
            <a:ext cx="3086100" cy="3810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4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40" b="1" dirty="0">
                <a:solidFill>
                  <a:srgbClr val="BB5148"/>
                </a:solidFill>
                <a:latin typeface="Arial"/>
                <a:ea typeface="Arial"/>
                <a:cs typeface="Arial"/>
              </a:rPr>
              <a:t>Retención</a:t>
            </a:r>
            <a:endParaRPr lang="es-ES" sz="2040"/>
          </a:p>
        </p:txBody>
      </p:sp>
      <p:sp>
        <p:nvSpPr>
          <p:cNvPr id="11" name="Text 11"/>
          <p:cNvSpPr txBox="1"/>
          <p:nvPr/>
        </p:nvSpPr>
        <p:spPr>
          <a:xfrm>
            <a:off x="685800" y="2987040"/>
            <a:ext cx="3086100" cy="8382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Investigar trato, comunicación</a:t>
            </a:r>
            <a:endParaRPr lang="es-ES" sz="1740"/>
          </a:p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y autonomía de los equipos.</a:t>
            </a:r>
            <a:endParaRPr lang="es-ES" sz="1740"/>
          </a:p>
        </p:txBody>
      </p:sp>
      <p:sp>
        <p:nvSpPr>
          <p:cNvPr id="12" name="Rectangle 12"/>
          <p:cNvSpPr/>
          <p:nvPr/>
        </p:nvSpPr>
        <p:spPr>
          <a:xfrm>
            <a:off x="4229100" y="2171700"/>
            <a:ext cx="3467100" cy="187452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3" name="Rectangle 13"/>
          <p:cNvSpPr/>
          <p:nvPr/>
        </p:nvSpPr>
        <p:spPr>
          <a:xfrm>
            <a:off x="4229100" y="2171700"/>
            <a:ext cx="3467100" cy="60960"/>
          </a:xfrm>
          <a:prstGeom prst="rect">
            <a:avLst/>
          </a:prstGeom>
          <a:solidFill>
            <a:srgbClr val="C99128"/>
          </a:solidFill>
          <a:ln w="7620"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419600" y="2392680"/>
            <a:ext cx="3086100" cy="3810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4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40" b="1" dirty="0">
                <a:solidFill>
                  <a:srgbClr val="C99128"/>
                </a:solidFill>
                <a:latin typeface="Arial"/>
                <a:ea typeface="Arial"/>
                <a:cs typeface="Arial"/>
              </a:rPr>
              <a:t>Compensación</a:t>
            </a:r>
            <a:endParaRPr lang="es-ES" sz="2040"/>
          </a:p>
        </p:txBody>
      </p:sp>
      <p:sp>
        <p:nvSpPr>
          <p:cNvPr id="15" name="Text 15"/>
          <p:cNvSpPr txBox="1"/>
          <p:nvPr/>
        </p:nvSpPr>
        <p:spPr>
          <a:xfrm>
            <a:off x="4419600" y="2987040"/>
            <a:ext cx="3086100" cy="8382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Revisar equidad y</a:t>
            </a:r>
            <a:endParaRPr lang="es-ES" sz="1740"/>
          </a:p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competitividad antes de decidir</a:t>
            </a:r>
            <a:endParaRPr lang="es-ES" sz="1740"/>
          </a:p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cambios.</a:t>
            </a:r>
            <a:endParaRPr lang="es-ES" sz="1740"/>
          </a:p>
        </p:txBody>
      </p:sp>
      <p:sp>
        <p:nvSpPr>
          <p:cNvPr id="16" name="Rectangle 16"/>
          <p:cNvSpPr/>
          <p:nvPr/>
        </p:nvSpPr>
        <p:spPr>
          <a:xfrm>
            <a:off x="7962900" y="2171700"/>
            <a:ext cx="3467100" cy="187452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7" name="Rectangle 17"/>
          <p:cNvSpPr/>
          <p:nvPr/>
        </p:nvSpPr>
        <p:spPr>
          <a:xfrm>
            <a:off x="7962900" y="2171700"/>
            <a:ext cx="3467100" cy="6096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8153400" y="2392680"/>
            <a:ext cx="3086100" cy="3810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4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4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Atracción</a:t>
            </a:r>
            <a:endParaRPr lang="es-ES" sz="2040"/>
          </a:p>
        </p:txBody>
      </p:sp>
      <p:sp>
        <p:nvSpPr>
          <p:cNvPr id="19" name="Text 19"/>
          <p:cNvSpPr txBox="1"/>
          <p:nvPr/>
        </p:nvSpPr>
        <p:spPr>
          <a:xfrm>
            <a:off x="8153400" y="2987040"/>
            <a:ext cx="3086100" cy="8382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Validar la experiencia de</a:t>
            </a:r>
            <a:endParaRPr lang="es-ES" sz="1740"/>
          </a:p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aprendizaje antes de</a:t>
            </a:r>
            <a:endParaRPr lang="es-ES" sz="1740"/>
          </a:p>
          <a:p>
            <a:pPr algn="l" marL="0" marR="0" indent="0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4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comunicarla.</a:t>
            </a:r>
            <a:endParaRPr lang="es-ES" sz="1740"/>
          </a:p>
        </p:txBody>
      </p:sp>
      <p:sp>
        <p:nvSpPr>
          <p:cNvPr id="20" name="Rectangle 20"/>
          <p:cNvSpPr/>
          <p:nvPr/>
        </p:nvSpPr>
        <p:spPr>
          <a:xfrm>
            <a:off x="495300" y="4328160"/>
            <a:ext cx="10934700" cy="1760220"/>
          </a:xfrm>
          <a:prstGeom prst="rect">
            <a:avLst/>
          </a:prstGeom>
          <a:solidFill>
            <a:srgbClr val="EAF3F5"/>
          </a:solidFill>
          <a:ln w="7620"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685800" y="4495800"/>
            <a:ext cx="5410200" cy="13487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Referencias: Infogain, World Wide Technology y</a:t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Rackspace Technology.</a:t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/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Servicios TI; escala histórica aproximada de 5.000–11.000</a:t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personas.</a:t>
            </a:r>
            <a:endParaRPr lang="es-ES" sz="1620"/>
          </a:p>
        </p:txBody>
      </p:sp>
      <p:sp>
        <p:nvSpPr>
          <p:cNvPr id="22" name="Text 22"/>
          <p:cNvSpPr txBox="1"/>
          <p:nvPr/>
        </p:nvSpPr>
        <p:spPr>
          <a:xfrm>
            <a:off x="6591300" y="4495800"/>
            <a:ext cx="4594860" cy="13487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4.000 reseñas · 1.000 por empresa.</a:t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Semilla 42; 0 duplicados.</a:t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/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La muestra no representa automáticamente a</a:t>
            </a:r>
            <a:endParaRPr lang="es-ES" sz="1620"/>
          </a:p>
          <a:p>
            <a:pPr algn="l" marL="0" marR="0" indent="0">
              <a:lnSpc>
                <a:spcPts val="1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toda la plantilla.</a:t>
            </a:r>
            <a:endParaRPr lang="es-ES" sz="162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CompuCom queda por debajo de sus referencias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REPUTACIÓN COMO EMPLEADOR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CompuCom queda por debajo de sus referencias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La brecha aparece tanto en la puntuación como en la recomendación.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n=1.000 por empresa. % incluye Sí / Sin opinión / No; pp = diferencia entre porcentajes.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02</a:t>
            </a:r>
            <a:endParaRPr lang="es-ES" sz="1080"/>
          </a:p>
        </p:txBody>
      </p:sp>
      <p:pic>
        <p:nvPicPr>
          <p:cNvPr id="8" name="01_rating_recomendacion.png" descr="01 rating recomendac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2362913"/>
            <a:ext cx="8305800" cy="3389473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95300" y="6164580"/>
            <a:ext cx="8305800" cy="1828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Origen: Glassdoor_ejemplo.ipynb · apartado 1. EDA · gráfica 01</a:t>
            </a:r>
            <a:endParaRPr lang="es-ES" sz="1020"/>
          </a:p>
        </p:txBody>
      </p:sp>
      <p:sp>
        <p:nvSpPr>
          <p:cNvPr id="10" name="Rectangle 10"/>
          <p:cNvSpPr/>
          <p:nvPr/>
        </p:nvSpPr>
        <p:spPr>
          <a:xfrm>
            <a:off x="9105900" y="21717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9281160" y="22936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-0,88 puntos</a:t>
            </a:r>
            <a:endParaRPr lang="es-ES" sz="2880"/>
          </a:p>
        </p:txBody>
      </p:sp>
      <p:sp>
        <p:nvSpPr>
          <p:cNvPr id="12" name="Text 12"/>
          <p:cNvSpPr txBox="1"/>
          <p:nvPr/>
        </p:nvSpPr>
        <p:spPr>
          <a:xfrm>
            <a:off x="9281160" y="28879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Brecha de rating</a:t>
            </a:r>
            <a:endParaRPr lang="es-ES" sz="1320"/>
          </a:p>
        </p:txBody>
      </p:sp>
      <p:sp>
        <p:nvSpPr>
          <p:cNvPr id="13" name="Text 13"/>
          <p:cNvSpPr txBox="1"/>
          <p:nvPr/>
        </p:nvSpPr>
        <p:spPr>
          <a:xfrm>
            <a:off x="9281160" y="32156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2,91 frente a 3,79.</a:t>
            </a:r>
            <a:endParaRPr lang="es-ES" sz="1320"/>
          </a:p>
        </p:txBody>
      </p:sp>
      <p:sp>
        <p:nvSpPr>
          <p:cNvPr id="14" name="Rectangle 14"/>
          <p:cNvSpPr/>
          <p:nvPr/>
        </p:nvSpPr>
        <p:spPr>
          <a:xfrm>
            <a:off x="9105900" y="41148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9281160" y="42367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-25,67 pp</a:t>
            </a:r>
            <a:endParaRPr lang="es-ES" sz="2880"/>
          </a:p>
        </p:txBody>
      </p:sp>
      <p:sp>
        <p:nvSpPr>
          <p:cNvPr id="16" name="Text 16"/>
          <p:cNvSpPr txBox="1"/>
          <p:nvPr/>
        </p:nvSpPr>
        <p:spPr>
          <a:xfrm>
            <a:off x="9281160" y="48310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Brecha de recomendación</a:t>
            </a:r>
            <a:endParaRPr lang="es-ES" sz="1320"/>
          </a:p>
        </p:txBody>
      </p:sp>
      <p:sp>
        <p:nvSpPr>
          <p:cNvPr id="17" name="Text 17"/>
          <p:cNvSpPr txBox="1"/>
          <p:nvPr/>
        </p:nvSpPr>
        <p:spPr>
          <a:xfrm>
            <a:off x="9281160" y="51587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Contrastar con escucha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interna por equipo y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ubicación.</a:t>
            </a:r>
            <a:endParaRPr lang="es-ES" sz="132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La puntuación mejora; conviene entender por qué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EVOLUCIÓN DE LA EXPERIENCIA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La puntuación mejora; conviene entender por qué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Revisar qué equipos y experiencias coinciden con esta evolución.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2018 y 2023 son parciales; mínimo de 20 reseñas por empresa y año mostrado.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03</a:t>
            </a:r>
            <a:endParaRPr lang="es-ES" sz="1080"/>
          </a:p>
        </p:txBody>
      </p:sp>
      <p:pic>
        <p:nvPicPr>
          <p:cNvPr id="8" name="03_evolucion_rating.png" descr="03 evolucion rat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2340125"/>
            <a:ext cx="8305800" cy="3435049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95300" y="6164580"/>
            <a:ext cx="8305800" cy="1828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Origen: Glassdoor_ejemplo.ipynb · apartado 1. EDA · gráfica 03</a:t>
            </a:r>
            <a:endParaRPr lang="es-ES" sz="1020"/>
          </a:p>
        </p:txBody>
      </p:sp>
      <p:sp>
        <p:nvSpPr>
          <p:cNvPr id="10" name="Rectangle 10"/>
          <p:cNvSpPr/>
          <p:nvPr/>
        </p:nvSpPr>
        <p:spPr>
          <a:xfrm>
            <a:off x="9105900" y="21717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9281160" y="22936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2,44</a:t>
            </a:r>
            <a:endParaRPr lang="es-ES" sz="2880"/>
          </a:p>
        </p:txBody>
      </p:sp>
      <p:sp>
        <p:nvSpPr>
          <p:cNvPr id="12" name="Text 12"/>
          <p:cNvSpPr txBox="1"/>
          <p:nvPr/>
        </p:nvSpPr>
        <p:spPr>
          <a:xfrm>
            <a:off x="9281160" y="28879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CompuCom 2018</a:t>
            </a:r>
            <a:endParaRPr lang="es-ES" sz="1320"/>
          </a:p>
        </p:txBody>
      </p:sp>
      <p:sp>
        <p:nvSpPr>
          <p:cNvPr id="13" name="Text 13"/>
          <p:cNvSpPr txBox="1"/>
          <p:nvPr/>
        </p:nvSpPr>
        <p:spPr>
          <a:xfrm>
            <a:off x="9281160" y="32156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n=64 reseñas.</a:t>
            </a:r>
            <a:endParaRPr lang="es-ES" sz="1320"/>
          </a:p>
        </p:txBody>
      </p:sp>
      <p:sp>
        <p:nvSpPr>
          <p:cNvPr id="14" name="Rectangle 14"/>
          <p:cNvSpPr/>
          <p:nvPr/>
        </p:nvSpPr>
        <p:spPr>
          <a:xfrm>
            <a:off x="9105900" y="41148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9281160" y="42367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3,47</a:t>
            </a:r>
            <a:endParaRPr lang="es-ES" sz="2880"/>
          </a:p>
        </p:txBody>
      </p:sp>
      <p:sp>
        <p:nvSpPr>
          <p:cNvPr id="16" name="Text 16"/>
          <p:cNvSpPr txBox="1"/>
          <p:nvPr/>
        </p:nvSpPr>
        <p:spPr>
          <a:xfrm>
            <a:off x="9281160" y="48310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CompuCom 2023</a:t>
            </a:r>
            <a:endParaRPr lang="es-ES" sz="1320"/>
          </a:p>
        </p:txBody>
      </p:sp>
      <p:sp>
        <p:nvSpPr>
          <p:cNvPr id="17" name="Text 17"/>
          <p:cNvSpPr txBox="1"/>
          <p:nvPr/>
        </p:nvSpPr>
        <p:spPr>
          <a:xfrm>
            <a:off x="9281160" y="51587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n=47 reseñas; año parcial.</a:t>
            </a:r>
            <a:endParaRPr lang="es-ES" sz="132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Aprendizaje: una fortaleza que aún hay que validar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FORTALEZAS Y FRICCIONES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Aprendizaje: una fortaleza que aún hay que validar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Los elogios y las quejas se comparan con las mismas referencias.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% = reseñas de cada categoría / 1.000 textos válidos; categorías seleccionadas.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04</a:t>
            </a:r>
            <a:endParaRPr lang="es-ES" sz="1080"/>
          </a:p>
        </p:txBody>
      </p:sp>
      <p:pic>
        <p:nvPicPr>
          <p:cNvPr id="8" name="06_categorias_pros_cons.png" descr="06 categorias pros c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48" y="2057400"/>
            <a:ext cx="8222504" cy="4000500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95300" y="6164580"/>
            <a:ext cx="8305800" cy="1828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Origen: Glassdoor_ejemplo.ipynb · apartado 4. Comparación con peers · gráfica 06</a:t>
            </a:r>
            <a:endParaRPr lang="es-ES" sz="1020"/>
          </a:p>
        </p:txBody>
      </p:sp>
      <p:sp>
        <p:nvSpPr>
          <p:cNvPr id="10" name="Rectangle 10"/>
          <p:cNvSpPr/>
          <p:nvPr/>
        </p:nvSpPr>
        <p:spPr>
          <a:xfrm>
            <a:off x="9105900" y="2171700"/>
            <a:ext cx="2590800" cy="18669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9281160" y="22936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6,5 %</a:t>
            </a:r>
            <a:endParaRPr lang="es-ES" sz="2880"/>
          </a:p>
        </p:txBody>
      </p:sp>
      <p:sp>
        <p:nvSpPr>
          <p:cNvPr id="12" name="Text 12"/>
          <p:cNvSpPr txBox="1"/>
          <p:nvPr/>
        </p:nvSpPr>
        <p:spPr>
          <a:xfrm>
            <a:off x="9281160" y="28879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Pros de aprendizaje</a:t>
            </a:r>
            <a:endParaRPr lang="es-ES" sz="1320"/>
          </a:p>
        </p:txBody>
      </p:sp>
      <p:sp>
        <p:nvSpPr>
          <p:cNvPr id="13" name="Text 13"/>
          <p:cNvSpPr txBox="1"/>
          <p:nvPr/>
        </p:nvSpPr>
        <p:spPr>
          <a:xfrm>
            <a:off x="9281160" y="3215640"/>
            <a:ext cx="2240280" cy="7315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Referencias: 2,67 %.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Posible mensaje para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selección.</a:t>
            </a:r>
            <a:endParaRPr lang="es-ES" sz="1320"/>
          </a:p>
        </p:txBody>
      </p:sp>
      <p:sp>
        <p:nvSpPr>
          <p:cNvPr id="14" name="Rectangle 14"/>
          <p:cNvSpPr/>
          <p:nvPr/>
        </p:nvSpPr>
        <p:spPr>
          <a:xfrm>
            <a:off x="9105900" y="42291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9281160" y="43510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C99128"/>
                </a:solidFill>
                <a:latin typeface="Arial"/>
                <a:ea typeface="Arial"/>
                <a:cs typeface="Arial"/>
              </a:rPr>
              <a:t>Provisional</a:t>
            </a:r>
            <a:endParaRPr lang="es-ES" sz="2880"/>
          </a:p>
        </p:txBody>
      </p:sp>
      <p:sp>
        <p:nvSpPr>
          <p:cNvPr id="16" name="Text 16"/>
          <p:cNvSpPr txBox="1"/>
          <p:nvPr/>
        </p:nvSpPr>
        <p:spPr>
          <a:xfrm>
            <a:off x="9281160" y="49453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Validar antes de anunciar</a:t>
            </a:r>
            <a:endParaRPr lang="es-ES" sz="1320"/>
          </a:p>
        </p:txBody>
      </p:sp>
      <p:sp>
        <p:nvSpPr>
          <p:cNvPr id="17" name="Text 17"/>
          <p:cNvSpPr txBox="1"/>
          <p:nvPr/>
        </p:nvSpPr>
        <p:spPr>
          <a:xfrm>
            <a:off x="9281160" y="52730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El balance cambia de signo al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revisar etiquetas ambiguas.</a:t>
            </a:r>
            <a:endParaRPr lang="es-ES" sz="132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Liderazgo y compensación muestran desventaja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COMPARACIÓN CON EL MERCADO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Liderazgo y compensación muestran desventaja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Balance = % elogios − % quejas; brecha = balance propio − media de referencias.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pp = puntos porcentuales; valores negativos indican desventaja relativa.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05</a:t>
            </a:r>
            <a:endParaRPr lang="es-ES" sz="1080"/>
          </a:p>
        </p:txBody>
      </p:sp>
      <p:pic>
        <p:nvPicPr>
          <p:cNvPr id="8" name="07_gap_balance.png" descr="07 gap bala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12" y="2057400"/>
            <a:ext cx="7814776" cy="4000500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95300" y="6164580"/>
            <a:ext cx="8305800" cy="1828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Origen: Glassdoor_ejemplo.ipynb · apartado 4. Comparación con peers · gráfica 07</a:t>
            </a:r>
            <a:endParaRPr lang="es-ES" sz="1020"/>
          </a:p>
        </p:txBody>
      </p:sp>
      <p:sp>
        <p:nvSpPr>
          <p:cNvPr id="10" name="Rectangle 10"/>
          <p:cNvSpPr/>
          <p:nvPr/>
        </p:nvSpPr>
        <p:spPr>
          <a:xfrm>
            <a:off x="9105900" y="21717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9281160" y="22936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BB5148"/>
                </a:solidFill>
                <a:latin typeface="Arial"/>
                <a:ea typeface="Arial"/>
                <a:cs typeface="Arial"/>
              </a:rPr>
              <a:t>-5,23 pp</a:t>
            </a:r>
            <a:endParaRPr lang="es-ES" sz="2880"/>
          </a:p>
        </p:txBody>
      </p:sp>
      <p:sp>
        <p:nvSpPr>
          <p:cNvPr id="12" name="Text 12"/>
          <p:cNvSpPr txBox="1"/>
          <p:nvPr/>
        </p:nvSpPr>
        <p:spPr>
          <a:xfrm>
            <a:off x="9281160" y="28879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Liderazgo</a:t>
            </a:r>
            <a:endParaRPr lang="es-ES" sz="1320"/>
          </a:p>
        </p:txBody>
      </p:sp>
      <p:sp>
        <p:nvSpPr>
          <p:cNvPr id="13" name="Text 13"/>
          <p:cNvSpPr txBox="1"/>
          <p:nvPr/>
        </p:nvSpPr>
        <p:spPr>
          <a:xfrm>
            <a:off x="9281160" y="32156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La validación de indicadores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es coherente.</a:t>
            </a:r>
            <a:endParaRPr lang="es-ES" sz="1320"/>
          </a:p>
        </p:txBody>
      </p:sp>
      <p:sp>
        <p:nvSpPr>
          <p:cNvPr id="14" name="Rectangle 14"/>
          <p:cNvSpPr/>
          <p:nvPr/>
        </p:nvSpPr>
        <p:spPr>
          <a:xfrm>
            <a:off x="9105900" y="41148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9281160" y="42367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C99128"/>
                </a:solidFill>
                <a:latin typeface="Arial"/>
                <a:ea typeface="Arial"/>
                <a:cs typeface="Arial"/>
              </a:rPr>
              <a:t>-7,77 pp</a:t>
            </a:r>
            <a:endParaRPr lang="es-ES" sz="2880"/>
          </a:p>
        </p:txBody>
      </p:sp>
      <p:sp>
        <p:nvSpPr>
          <p:cNvPr id="16" name="Text 16"/>
          <p:cNvSpPr txBox="1"/>
          <p:nvPr/>
        </p:nvSpPr>
        <p:spPr>
          <a:xfrm>
            <a:off x="9281160" y="48310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Compensación</a:t>
            </a:r>
            <a:endParaRPr lang="es-ES" sz="1320"/>
          </a:p>
        </p:txBody>
      </p:sp>
      <p:sp>
        <p:nvSpPr>
          <p:cNvPr id="17" name="Text 17"/>
          <p:cNvSpPr txBox="1"/>
          <p:nvPr/>
        </p:nvSpPr>
        <p:spPr>
          <a:xfrm>
            <a:off x="9281160" y="51587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La brecha temática no basta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para decidir una intervención.</a:t>
            </a:r>
            <a:endParaRPr lang="es-ES" sz="132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Las quejas de liderazgo coinciden con peor valoración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CONTRASTE CON LA EXPERIENCIA GLOBAL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Las quejas de liderazgo coinciden con peor valoración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Compensación requiere diagnóstico: estos indicadores no confirman el deterioro.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Resto = reseñas cuyo cons no se asigna a esa categoría. Asociación descriptiva.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06</a:t>
            </a:r>
            <a:endParaRPr lang="es-ES" sz="1080"/>
          </a:p>
        </p:txBody>
      </p:sp>
      <p:pic>
        <p:nvPicPr>
          <p:cNvPr id="8" name="08_contraste_rating_recommend.png" descr="08 contraste rating recomm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2266723"/>
            <a:ext cx="8305800" cy="358185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95300" y="6164580"/>
            <a:ext cx="8305800" cy="1828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Origen: Glassdoor_ejemplo.ipynb · apartado 4. Comparación con peers · gráfica 08</a:t>
            </a:r>
            <a:endParaRPr lang="es-ES" sz="1020"/>
          </a:p>
        </p:txBody>
      </p:sp>
      <p:sp>
        <p:nvSpPr>
          <p:cNvPr id="10" name="Rectangle 10"/>
          <p:cNvSpPr/>
          <p:nvPr/>
        </p:nvSpPr>
        <p:spPr>
          <a:xfrm>
            <a:off x="9105900" y="21717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9281160" y="22936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BB5148"/>
                </a:solidFill>
                <a:latin typeface="Arial"/>
                <a:ea typeface="Arial"/>
                <a:cs typeface="Arial"/>
              </a:rPr>
              <a:t>Liderazgo</a:t>
            </a:r>
            <a:endParaRPr lang="es-ES" sz="2880"/>
          </a:p>
        </p:txBody>
      </p:sp>
      <p:sp>
        <p:nvSpPr>
          <p:cNvPr id="12" name="Text 12"/>
          <p:cNvSpPr txBox="1"/>
          <p:nvPr/>
        </p:nvSpPr>
        <p:spPr>
          <a:xfrm>
            <a:off x="9281160" y="28879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Señal coherente</a:t>
            </a:r>
            <a:endParaRPr lang="es-ES" sz="1320"/>
          </a:p>
        </p:txBody>
      </p:sp>
      <p:sp>
        <p:nvSpPr>
          <p:cNvPr id="13" name="Text 13"/>
          <p:cNvSpPr txBox="1"/>
          <p:nvPr/>
        </p:nvSpPr>
        <p:spPr>
          <a:xfrm>
            <a:off x="9281160" y="32156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Menor rating y más no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recomendación.</a:t>
            </a:r>
            <a:endParaRPr lang="es-ES" sz="1320"/>
          </a:p>
        </p:txBody>
      </p:sp>
      <p:sp>
        <p:nvSpPr>
          <p:cNvPr id="14" name="Rectangle 14"/>
          <p:cNvSpPr/>
          <p:nvPr/>
        </p:nvSpPr>
        <p:spPr>
          <a:xfrm>
            <a:off x="9105900" y="41148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9281160" y="42367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60" b="1" dirty="0">
                <a:solidFill>
                  <a:srgbClr val="C99128"/>
                </a:solidFill>
                <a:latin typeface="Arial"/>
                <a:ea typeface="Arial"/>
                <a:cs typeface="Arial"/>
              </a:rPr>
              <a:t>Compensación</a:t>
            </a:r>
            <a:endParaRPr lang="es-ES" sz="2460"/>
          </a:p>
        </p:txBody>
      </p:sp>
      <p:sp>
        <p:nvSpPr>
          <p:cNvPr id="16" name="Text 16"/>
          <p:cNvSpPr txBox="1"/>
          <p:nvPr/>
        </p:nvSpPr>
        <p:spPr>
          <a:xfrm>
            <a:off x="9281160" y="48310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Contraste no confirma</a:t>
            </a:r>
            <a:endParaRPr lang="es-ES" sz="1320"/>
          </a:p>
        </p:txBody>
      </p:sp>
      <p:sp>
        <p:nvSpPr>
          <p:cNvPr id="17" name="Text 17"/>
          <p:cNvSpPr txBox="1"/>
          <p:nvPr/>
        </p:nvSpPr>
        <p:spPr>
          <a:xfrm>
            <a:off x="9281160" y="51587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Requiere diagnóstico; no hay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peor rating ni más rechazo.</a:t>
            </a:r>
            <a:endParaRPr lang="es-ES" sz="132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Liderazgo aparece más entre antiguos empleados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ESCUCHA Y RETENCIÓN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Liderazgo aparece más entre antiguos empleados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Usar los temas para orientar entrevistas de salida y escuchar a los equipos.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CompuCom: 538 actuales / 462 antiguos. Referencias antiguos: 234 / 156 / 347.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07</a:t>
            </a:r>
            <a:endParaRPr lang="es-ES" sz="1080"/>
          </a:p>
        </p:txBody>
      </p:sp>
      <p:pic>
        <p:nvPicPr>
          <p:cNvPr id="8" name="09_actuales_antiguos.png" descr="09 actuales antigu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04" y="2057400"/>
            <a:ext cx="7926792" cy="4000500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95300" y="6164580"/>
            <a:ext cx="8305800" cy="1828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Origen: Glassdoor_ejemplo.ipynb · apartado 5. Actuales y antiguos · gráfica 09</a:t>
            </a:r>
            <a:endParaRPr lang="es-ES" sz="1020"/>
          </a:p>
        </p:txBody>
      </p:sp>
      <p:sp>
        <p:nvSpPr>
          <p:cNvPr id="10" name="Rectangle 10"/>
          <p:cNvSpPr/>
          <p:nvPr/>
        </p:nvSpPr>
        <p:spPr>
          <a:xfrm>
            <a:off x="9105900" y="2171700"/>
            <a:ext cx="2590800" cy="18669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9281160" y="22936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13,85 %</a:t>
            </a:r>
            <a:endParaRPr lang="es-ES" sz="2880"/>
          </a:p>
        </p:txBody>
      </p:sp>
      <p:sp>
        <p:nvSpPr>
          <p:cNvPr id="12" name="Text 12"/>
          <p:cNvSpPr txBox="1"/>
          <p:nvPr/>
        </p:nvSpPr>
        <p:spPr>
          <a:xfrm>
            <a:off x="9281160" y="28879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Liderazgo en antiguos</a:t>
            </a:r>
            <a:endParaRPr lang="es-ES" sz="1320"/>
          </a:p>
        </p:txBody>
      </p:sp>
      <p:sp>
        <p:nvSpPr>
          <p:cNvPr id="13" name="Text 13"/>
          <p:cNvSpPr txBox="1"/>
          <p:nvPr/>
        </p:nvSpPr>
        <p:spPr>
          <a:xfrm>
            <a:off x="9281160" y="3215640"/>
            <a:ext cx="2240280" cy="7315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Actuales: 9,85 %.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Peers antiguos: 11,15 %.</a:t>
            </a:r>
            <a:endParaRPr lang="es-ES" sz="1320"/>
          </a:p>
        </p:txBody>
      </p:sp>
      <p:sp>
        <p:nvSpPr>
          <p:cNvPr id="14" name="Rectangle 14"/>
          <p:cNvSpPr/>
          <p:nvPr/>
        </p:nvSpPr>
        <p:spPr>
          <a:xfrm>
            <a:off x="9105900" y="432054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9281160" y="444246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52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Validar salidas</a:t>
            </a:r>
            <a:endParaRPr lang="es-ES" sz="2520"/>
          </a:p>
        </p:txBody>
      </p:sp>
      <p:sp>
        <p:nvSpPr>
          <p:cNvPr id="16" name="Text 16"/>
          <p:cNvSpPr txBox="1"/>
          <p:nvPr/>
        </p:nvSpPr>
        <p:spPr>
          <a:xfrm>
            <a:off x="9281160" y="503682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Siguiente contraste</a:t>
            </a:r>
            <a:endParaRPr lang="es-ES" sz="1320"/>
          </a:p>
        </p:txBody>
      </p:sp>
      <p:sp>
        <p:nvSpPr>
          <p:cNvPr id="17" name="Text 17"/>
          <p:cNvSpPr txBox="1"/>
          <p:nvPr/>
        </p:nvSpPr>
        <p:spPr>
          <a:xfrm>
            <a:off x="9281160" y="536448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Combinar estos textos con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entrevistas y datos internos.</a:t>
            </a:r>
            <a:endParaRPr lang="es-ES" sz="132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Investigar liderazgo; auditar compensación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PRIORIDADES PARA RR. HH.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Investigar liderazgo; auditar compensación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Frecuencia y desventaja orientan el trabajo; el contraste decide qué validar.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Corte del 5 % = 50 reseñas: criterio operativo, no significación estadística.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08</a:t>
            </a:r>
            <a:endParaRPr lang="es-ES" sz="1080"/>
          </a:p>
        </p:txBody>
      </p:sp>
      <p:pic>
        <p:nvPicPr>
          <p:cNvPr id="8" name="10_matriz_priorizacion.png" descr="10 matriz priorizac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89" y="2057400"/>
            <a:ext cx="7794823" cy="4000500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95300" y="6164580"/>
            <a:ext cx="8305800" cy="1828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Origen: Glassdoor_ejemplo.ipynb · apartado 6. Priorización · gráfica 10</a:t>
            </a:r>
            <a:endParaRPr lang="es-ES" sz="1020"/>
          </a:p>
        </p:txBody>
      </p:sp>
      <p:sp>
        <p:nvSpPr>
          <p:cNvPr id="10" name="Rectangle 10"/>
          <p:cNvSpPr/>
          <p:nvPr/>
        </p:nvSpPr>
        <p:spPr>
          <a:xfrm>
            <a:off x="9105900" y="21717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9281160" y="22936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4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80" b="1" dirty="0">
                <a:solidFill>
                  <a:srgbClr val="BB5148"/>
                </a:solidFill>
                <a:latin typeface="Arial"/>
                <a:ea typeface="Arial"/>
                <a:cs typeface="Arial"/>
              </a:rPr>
              <a:t>Liderazgo</a:t>
            </a:r>
            <a:endParaRPr lang="es-ES" sz="2880"/>
          </a:p>
        </p:txBody>
      </p:sp>
      <p:sp>
        <p:nvSpPr>
          <p:cNvPr id="12" name="Text 12"/>
          <p:cNvSpPr txBox="1"/>
          <p:nvPr/>
        </p:nvSpPr>
        <p:spPr>
          <a:xfrm>
            <a:off x="9281160" y="28879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Primera investigación</a:t>
            </a:r>
            <a:endParaRPr lang="es-ES" sz="1320"/>
          </a:p>
        </p:txBody>
      </p:sp>
      <p:sp>
        <p:nvSpPr>
          <p:cNvPr id="13" name="Text 13"/>
          <p:cNvSpPr txBox="1"/>
          <p:nvPr/>
        </p:nvSpPr>
        <p:spPr>
          <a:xfrm>
            <a:off x="9281160" y="32156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Brecha frente al mercado y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peor valoración global.</a:t>
            </a:r>
            <a:endParaRPr lang="es-ES" sz="1320"/>
          </a:p>
        </p:txBody>
      </p:sp>
      <p:sp>
        <p:nvSpPr>
          <p:cNvPr id="14" name="Rectangle 14"/>
          <p:cNvSpPr/>
          <p:nvPr/>
        </p:nvSpPr>
        <p:spPr>
          <a:xfrm>
            <a:off x="9105900" y="4114800"/>
            <a:ext cx="2590800" cy="182880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9281160" y="4236720"/>
            <a:ext cx="2240280" cy="533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60" b="1" dirty="0">
                <a:solidFill>
                  <a:srgbClr val="C99128"/>
                </a:solidFill>
                <a:latin typeface="Arial"/>
                <a:ea typeface="Arial"/>
                <a:cs typeface="Arial"/>
              </a:rPr>
              <a:t>Compensación</a:t>
            </a:r>
            <a:endParaRPr lang="es-ES" sz="2460"/>
          </a:p>
        </p:txBody>
      </p:sp>
      <p:sp>
        <p:nvSpPr>
          <p:cNvPr id="16" name="Text 16"/>
          <p:cNvSpPr txBox="1"/>
          <p:nvPr/>
        </p:nvSpPr>
        <p:spPr>
          <a:xfrm>
            <a:off x="9281160" y="4831080"/>
            <a:ext cx="2240280" cy="2438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Auditoría focalizada</a:t>
            </a:r>
            <a:endParaRPr lang="es-ES" sz="1320"/>
          </a:p>
        </p:txBody>
      </p:sp>
      <p:sp>
        <p:nvSpPr>
          <p:cNvPr id="17" name="Text 17"/>
          <p:cNvSpPr txBox="1"/>
          <p:nvPr/>
        </p:nvSpPr>
        <p:spPr>
          <a:xfrm>
            <a:off x="9281160" y="5158740"/>
            <a:ext cx="2240280" cy="6934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Comprobar equidad y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competitividad por puesto y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ubicación.</a:t>
            </a:r>
            <a:endParaRPr lang="es-ES" sz="132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showMasterSp="0">
  <p:cSld name="Tres acciones ligadas a la evidencia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CONCLUSIONES Y PLAN DE ACCIÓN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Tres acciones ligadas a la evidencia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Plazos y métricas propuestos; fijar metas después de medir una línea base interna.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No se prometen mejoras, ahorro ni reducción de rotación sin haberlos medido.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09</a:t>
            </a:r>
            <a:endParaRPr lang="es-ES" sz="1080"/>
          </a:p>
        </p:txBody>
      </p:sp>
      <p:sp>
        <p:nvSpPr>
          <p:cNvPr id="8" name="Rectangle 8"/>
          <p:cNvSpPr/>
          <p:nvPr/>
        </p:nvSpPr>
        <p:spPr>
          <a:xfrm>
            <a:off x="495300" y="2125980"/>
            <a:ext cx="3467100" cy="390906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9" name="Rectangle 9"/>
          <p:cNvSpPr/>
          <p:nvPr/>
        </p:nvSpPr>
        <p:spPr>
          <a:xfrm>
            <a:off x="495300" y="2125980"/>
            <a:ext cx="3467100" cy="60960"/>
          </a:xfrm>
          <a:prstGeom prst="rect">
            <a:avLst/>
          </a:prstGeom>
          <a:solidFill>
            <a:srgbClr val="BB5148"/>
          </a:solidFill>
          <a:ln w="7620"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670560" y="2316480"/>
            <a:ext cx="3124200" cy="3200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20" b="1" dirty="0">
                <a:solidFill>
                  <a:srgbClr val="BB5148"/>
                </a:solidFill>
                <a:latin typeface="Arial"/>
                <a:ea typeface="Arial"/>
                <a:cs typeface="Arial"/>
              </a:rPr>
              <a:t>01 · Liderazgo</a:t>
            </a:r>
            <a:endParaRPr lang="es-ES" sz="1920"/>
          </a:p>
        </p:txBody>
      </p:sp>
      <p:sp>
        <p:nvSpPr>
          <p:cNvPr id="11" name="Text 11"/>
          <p:cNvSpPr txBox="1"/>
          <p:nvPr/>
        </p:nvSpPr>
        <p:spPr>
          <a:xfrm>
            <a:off x="670560" y="2804160"/>
            <a:ext cx="3124200" cy="5867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117 quejas; brecha -5,23 pp.</a:t>
            </a:r>
            <a:endParaRPr lang="es-ES" sz="1500"/>
          </a:p>
        </p:txBody>
      </p:sp>
      <p:sp>
        <p:nvSpPr>
          <p:cNvPr id="12" name="Text 12"/>
          <p:cNvSpPr txBox="1"/>
          <p:nvPr/>
        </p:nvSpPr>
        <p:spPr>
          <a:xfrm>
            <a:off x="670560" y="3520440"/>
            <a:ext cx="3124200" cy="8991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Escuchar a equipos y antiguos.</a:t>
            </a:r>
            <a:endParaRPr lang="es-ES" sz="1500"/>
          </a:p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Acordar un piloto de comunicación,</a:t>
            </a:r>
            <a:endParaRPr lang="es-ES" sz="1500"/>
          </a:p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trato y autonomía.</a:t>
            </a:r>
            <a:endParaRPr lang="es-ES" sz="1500"/>
          </a:p>
        </p:txBody>
      </p:sp>
      <p:sp>
        <p:nvSpPr>
          <p:cNvPr id="13" name="Text 13"/>
          <p:cNvSpPr txBox="1"/>
          <p:nvPr/>
        </p:nvSpPr>
        <p:spPr>
          <a:xfrm>
            <a:off x="670560" y="4579620"/>
            <a:ext cx="3124200" cy="5410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RR. HH. + responsables</a:t>
            </a:r>
            <a:endParaRPr lang="es-ES" sz="1380"/>
          </a:p>
          <a:p>
            <a:pPr algn="l" marL="0" marR="0" indent="0">
              <a:lnSpc>
                <a:spcPts val="1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30 días diagnóstico / 90 piloto</a:t>
            </a:r>
            <a:endParaRPr lang="es-ES" sz="1380"/>
          </a:p>
        </p:txBody>
      </p:sp>
      <p:sp>
        <p:nvSpPr>
          <p:cNvPr id="14" name="Text 14"/>
          <p:cNvSpPr txBox="1"/>
          <p:nvPr/>
        </p:nvSpPr>
        <p:spPr>
          <a:xfrm>
            <a:off x="670560" y="5341620"/>
            <a:ext cx="3124200" cy="5791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Seguimiento: Pulso de apoyo y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autonomía; rotación voluntaria interna.</a:t>
            </a:r>
            <a:endParaRPr lang="es-ES" sz="1320"/>
          </a:p>
        </p:txBody>
      </p:sp>
      <p:sp>
        <p:nvSpPr>
          <p:cNvPr id="15" name="Rectangle 15"/>
          <p:cNvSpPr/>
          <p:nvPr/>
        </p:nvSpPr>
        <p:spPr>
          <a:xfrm>
            <a:off x="4229100" y="2125980"/>
            <a:ext cx="3467100" cy="390906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6" name="Rectangle 16"/>
          <p:cNvSpPr/>
          <p:nvPr/>
        </p:nvSpPr>
        <p:spPr>
          <a:xfrm>
            <a:off x="4229100" y="2125980"/>
            <a:ext cx="3467100" cy="60960"/>
          </a:xfrm>
          <a:prstGeom prst="rect">
            <a:avLst/>
          </a:prstGeom>
          <a:solidFill>
            <a:srgbClr val="C99128"/>
          </a:solidFill>
          <a:ln w="7620"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4404360" y="2316480"/>
            <a:ext cx="3124200" cy="3200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20" b="1" dirty="0">
                <a:solidFill>
                  <a:srgbClr val="C99128"/>
                </a:solidFill>
                <a:latin typeface="Arial"/>
                <a:ea typeface="Arial"/>
                <a:cs typeface="Arial"/>
              </a:rPr>
              <a:t>02 · Compensación</a:t>
            </a:r>
            <a:endParaRPr lang="es-ES" sz="1920"/>
          </a:p>
        </p:txBody>
      </p:sp>
      <p:sp>
        <p:nvSpPr>
          <p:cNvPr id="18" name="Text 18"/>
          <p:cNvSpPr txBox="1"/>
          <p:nvPr/>
        </p:nvSpPr>
        <p:spPr>
          <a:xfrm>
            <a:off x="4404360" y="2804160"/>
            <a:ext cx="3124200" cy="5867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161 quejas; contraste no</a:t>
            </a:r>
            <a:endParaRPr lang="es-ES" sz="1500"/>
          </a:p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confirma.</a:t>
            </a:r>
            <a:endParaRPr lang="es-ES" sz="1500"/>
          </a:p>
        </p:txBody>
      </p:sp>
      <p:sp>
        <p:nvSpPr>
          <p:cNvPr id="19" name="Text 19"/>
          <p:cNvSpPr txBox="1"/>
          <p:nvPr/>
        </p:nvSpPr>
        <p:spPr>
          <a:xfrm>
            <a:off x="4404360" y="3520440"/>
            <a:ext cx="3124200" cy="8991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Revisar equidad, competitividad y</a:t>
            </a:r>
            <a:endParaRPr lang="es-ES" sz="1500"/>
          </a:p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criterios de revisión por puesto y</a:t>
            </a:r>
            <a:endParaRPr lang="es-ES" sz="1500"/>
          </a:p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ubicación.</a:t>
            </a:r>
            <a:endParaRPr lang="es-ES" sz="1500"/>
          </a:p>
        </p:txBody>
      </p:sp>
      <p:sp>
        <p:nvSpPr>
          <p:cNvPr id="20" name="Text 20"/>
          <p:cNvSpPr txBox="1"/>
          <p:nvPr/>
        </p:nvSpPr>
        <p:spPr>
          <a:xfrm>
            <a:off x="4404360" y="4579620"/>
            <a:ext cx="3124200" cy="5410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Compensación y beneficios</a:t>
            </a:r>
            <a:endParaRPr lang="es-ES" sz="1380"/>
          </a:p>
          <a:p>
            <a:pPr algn="l" marL="0" marR="0" indent="0">
              <a:lnSpc>
                <a:spcPts val="1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60 días para auditoría</a:t>
            </a:r>
            <a:endParaRPr lang="es-ES" sz="1380"/>
          </a:p>
        </p:txBody>
      </p:sp>
      <p:sp>
        <p:nvSpPr>
          <p:cNvPr id="21" name="Text 21"/>
          <p:cNvSpPr txBox="1"/>
          <p:nvPr/>
        </p:nvSpPr>
        <p:spPr>
          <a:xfrm>
            <a:off x="4404360" y="5341620"/>
            <a:ext cx="3124200" cy="5791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Seguimiento: Brechas por puesto y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percepción de equidad.</a:t>
            </a:r>
            <a:endParaRPr lang="es-ES" sz="1320"/>
          </a:p>
        </p:txBody>
      </p:sp>
      <p:sp>
        <p:nvSpPr>
          <p:cNvPr id="22" name="Rectangle 22"/>
          <p:cNvSpPr/>
          <p:nvPr/>
        </p:nvSpPr>
        <p:spPr>
          <a:xfrm>
            <a:off x="7962900" y="2125980"/>
            <a:ext cx="3467100" cy="390906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23" name="Rectangle 23"/>
          <p:cNvSpPr/>
          <p:nvPr/>
        </p:nvSpPr>
        <p:spPr>
          <a:xfrm>
            <a:off x="7962900" y="2125980"/>
            <a:ext cx="3467100" cy="6096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8138160" y="2316480"/>
            <a:ext cx="3124200" cy="3200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2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03 · Aprendizaje</a:t>
            </a:r>
            <a:endParaRPr lang="es-ES" sz="1920"/>
          </a:p>
        </p:txBody>
      </p:sp>
      <p:sp>
        <p:nvSpPr>
          <p:cNvPr id="25" name="Text 25"/>
          <p:cNvSpPr txBox="1"/>
          <p:nvPr/>
        </p:nvSpPr>
        <p:spPr>
          <a:xfrm>
            <a:off x="8138160" y="2804160"/>
            <a:ext cx="3124200" cy="58674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Brecha sensible: -1,30 a 4,83 pp.</a:t>
            </a:r>
            <a:endParaRPr lang="es-ES" sz="1500"/>
          </a:p>
        </p:txBody>
      </p:sp>
      <p:sp>
        <p:nvSpPr>
          <p:cNvPr id="26" name="Text 26"/>
          <p:cNvSpPr txBox="1"/>
          <p:nvPr/>
        </p:nvSpPr>
        <p:spPr>
          <a:xfrm>
            <a:off x="8138160" y="3520440"/>
            <a:ext cx="3124200" cy="8991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Validar formación con empleados y</a:t>
            </a:r>
            <a:endParaRPr lang="es-ES" sz="1500"/>
          </a:p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responsables. Comunicarla si se</a:t>
            </a:r>
            <a:endParaRPr lang="es-ES" sz="1500"/>
          </a:p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confirma.</a:t>
            </a:r>
            <a:endParaRPr lang="es-ES" sz="1500"/>
          </a:p>
        </p:txBody>
      </p:sp>
      <p:sp>
        <p:nvSpPr>
          <p:cNvPr id="27" name="Text 27"/>
          <p:cNvSpPr txBox="1"/>
          <p:nvPr/>
        </p:nvSpPr>
        <p:spPr>
          <a:xfrm>
            <a:off x="8138160" y="4579620"/>
            <a:ext cx="3124200" cy="5410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Selección + responsables</a:t>
            </a:r>
            <a:endParaRPr lang="es-ES" sz="1380"/>
          </a:p>
          <a:p>
            <a:pPr algn="l" marL="0" marR="0" indent="0">
              <a:lnSpc>
                <a:spcPts val="1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30 días revisión / 60 validación</a:t>
            </a:r>
            <a:endParaRPr lang="es-ES" sz="1380"/>
          </a:p>
        </p:txBody>
      </p:sp>
      <p:sp>
        <p:nvSpPr>
          <p:cNvPr id="28" name="Text 28"/>
          <p:cNvSpPr txBox="1"/>
          <p:nvPr/>
        </p:nvSpPr>
        <p:spPr>
          <a:xfrm>
            <a:off x="8138160" y="5341620"/>
            <a:ext cx="3124200" cy="5791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Seguimiento: Experiencia formativa por rol</a:t>
            </a:r>
            <a:endParaRPr lang="es-ES" sz="1320"/>
          </a:p>
          <a:p>
            <a:pPr algn="l" marL="0" marR="0" indent="0">
              <a:lnSpc>
                <a:spcPts val="1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2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y ejemplos verificados.</a:t>
            </a:r>
            <a:endParaRPr lang="es-ES" sz="132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showMasterSp="0">
  <p:cSld name="Validar dentro de la empresa antes de generalizar">
    <p:bg>
      <p:bgPr>
        <a:solidFill>
          <a:srgbClr val="FFFFFF"/>
        </a:solidFill>
        <a:effectLst/>
      </p:bgPr>
    </p:bg>
    <p:spTree>
      <p:nvGrpSpPr>
        <p:cNvPr id="1" name="Scene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37A8A"/>
          </a:solidFill>
          <a:ln w="7620"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95300" y="304800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LIMITACIONES Y PRÓXIMOS PASOS</a:t>
            </a:r>
            <a:endParaRPr lang="es-ES" sz="1200"/>
          </a:p>
        </p:txBody>
      </p:sp>
      <p:sp>
        <p:nvSpPr>
          <p:cNvPr id="4" name="Text 4"/>
          <p:cNvSpPr txBox="1"/>
          <p:nvPr/>
        </p:nvSpPr>
        <p:spPr>
          <a:xfrm>
            <a:off x="495300" y="647700"/>
            <a:ext cx="11201400" cy="9144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5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94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Validar dentro de la empresa antes de generalizar</a:t>
            </a:r>
            <a:endParaRPr lang="es-ES" sz="2940"/>
          </a:p>
        </p:txBody>
      </p:sp>
      <p:sp>
        <p:nvSpPr>
          <p:cNvPr id="5" name="Text 5"/>
          <p:cNvSpPr txBox="1"/>
          <p:nvPr/>
        </p:nvSpPr>
        <p:spPr>
          <a:xfrm>
            <a:off x="495300" y="1562100"/>
            <a:ext cx="11125200" cy="3352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La cobertura parcial obliga a combinar reseñas con escucha y datos internos.</a:t>
            </a:r>
            <a:endParaRPr lang="es-ES" sz="1500"/>
          </a:p>
        </p:txBody>
      </p:sp>
      <p:sp>
        <p:nvSpPr>
          <p:cNvPr id="6" name="Text 6"/>
          <p:cNvSpPr txBox="1"/>
          <p:nvPr/>
        </p:nvSpPr>
        <p:spPr>
          <a:xfrm>
            <a:off x="495300" y="6385560"/>
            <a:ext cx="10668000" cy="3276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Datos históricos de 2018–2023; asociaciones descriptivas, no causas demostradas.</a:t>
            </a:r>
            <a:endParaRPr lang="es-ES" sz="1080"/>
          </a:p>
        </p:txBody>
      </p:sp>
      <p:sp>
        <p:nvSpPr>
          <p:cNvPr id="7" name="Text 7"/>
          <p:cNvSpPr txBox="1"/>
          <p:nvPr/>
        </p:nvSpPr>
        <p:spPr>
          <a:xfrm>
            <a:off x="11277600" y="6416040"/>
            <a:ext cx="441960" cy="21336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r" marL="0" marR="0" indent="0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8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10</a:t>
            </a:r>
            <a:endParaRPr lang="es-ES" sz="1080"/>
          </a:p>
        </p:txBody>
      </p:sp>
      <p:sp>
        <p:nvSpPr>
          <p:cNvPr id="8" name="Rectangle 8"/>
          <p:cNvSpPr/>
          <p:nvPr/>
        </p:nvSpPr>
        <p:spPr>
          <a:xfrm>
            <a:off x="495300" y="2133600"/>
            <a:ext cx="3467100" cy="119634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670560" y="2255520"/>
            <a:ext cx="3124200" cy="4876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38,9 %</a:t>
            </a:r>
            <a:endParaRPr lang="es-ES" sz="2700"/>
          </a:p>
        </p:txBody>
      </p:sp>
      <p:sp>
        <p:nvSpPr>
          <p:cNvPr id="10" name="Text 10"/>
          <p:cNvSpPr txBox="1"/>
          <p:nvPr/>
        </p:nvSpPr>
        <p:spPr>
          <a:xfrm>
            <a:off x="670560" y="2811780"/>
            <a:ext cx="3124200" cy="4191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7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4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Cons con categoría accionable</a:t>
            </a:r>
            <a:endParaRPr lang="es-ES" sz="1440"/>
          </a:p>
        </p:txBody>
      </p:sp>
      <p:sp>
        <p:nvSpPr>
          <p:cNvPr id="11" name="Rectangle 11"/>
          <p:cNvSpPr/>
          <p:nvPr/>
        </p:nvSpPr>
        <p:spPr>
          <a:xfrm>
            <a:off x="4229100" y="2133600"/>
            <a:ext cx="3467100" cy="119634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4404360" y="2255520"/>
            <a:ext cx="3124200" cy="4876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44,2 %</a:t>
            </a:r>
            <a:endParaRPr lang="es-ES" sz="2700"/>
          </a:p>
        </p:txBody>
      </p:sp>
      <p:sp>
        <p:nvSpPr>
          <p:cNvPr id="13" name="Text 13"/>
          <p:cNvSpPr txBox="1"/>
          <p:nvPr/>
        </p:nvSpPr>
        <p:spPr>
          <a:xfrm>
            <a:off x="4404360" y="2811780"/>
            <a:ext cx="3124200" cy="4191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7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4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Cons sin tema asignado</a:t>
            </a:r>
            <a:endParaRPr lang="es-ES" sz="1440"/>
          </a:p>
        </p:txBody>
      </p:sp>
      <p:sp>
        <p:nvSpPr>
          <p:cNvPr id="14" name="Rectangle 14"/>
          <p:cNvSpPr/>
          <p:nvPr/>
        </p:nvSpPr>
        <p:spPr>
          <a:xfrm>
            <a:off x="7962900" y="2133600"/>
            <a:ext cx="3467100" cy="119634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8138160" y="2255520"/>
            <a:ext cx="3124200" cy="4876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2018–2023</a:t>
            </a:r>
            <a:endParaRPr lang="es-ES" sz="2700"/>
          </a:p>
        </p:txBody>
      </p:sp>
      <p:sp>
        <p:nvSpPr>
          <p:cNvPr id="16" name="Text 16"/>
          <p:cNvSpPr txBox="1"/>
          <p:nvPr/>
        </p:nvSpPr>
        <p:spPr>
          <a:xfrm>
            <a:off x="8138160" y="2811780"/>
            <a:ext cx="3124200" cy="4191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7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4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Reseñas históricas; validar el presente</a:t>
            </a:r>
            <a:endParaRPr lang="es-ES" sz="1440"/>
          </a:p>
        </p:txBody>
      </p:sp>
      <p:sp>
        <p:nvSpPr>
          <p:cNvPr id="17" name="Rectangle 17"/>
          <p:cNvSpPr/>
          <p:nvPr/>
        </p:nvSpPr>
        <p:spPr>
          <a:xfrm>
            <a:off x="495300" y="3535680"/>
            <a:ext cx="5181600" cy="2506980"/>
          </a:xfrm>
          <a:prstGeom prst="rect">
            <a:avLst/>
          </a:prstGeom>
          <a:solidFill>
            <a:srgbClr val="F3F6F9"/>
          </a:solidFill>
          <a:ln w="7620">
            <a:noFill/>
          </a:ln>
        </p:spPr>
      </p:sp>
      <p:sp>
        <p:nvSpPr>
          <p:cNvPr id="18" name="Rectangle 18"/>
          <p:cNvSpPr/>
          <p:nvPr/>
        </p:nvSpPr>
        <p:spPr>
          <a:xfrm>
            <a:off x="5981700" y="3535680"/>
            <a:ext cx="5676900" cy="2506980"/>
          </a:xfrm>
          <a:prstGeom prst="rect">
            <a:avLst/>
          </a:prstGeom>
          <a:solidFill>
            <a:srgbClr val="EAF3F5"/>
          </a:solidFill>
          <a:ln w="7620"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685800" y="3695700"/>
            <a:ext cx="4762500" cy="3733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80" b="1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Qué limita la lectura</a:t>
            </a:r>
            <a:endParaRPr lang="es-ES" sz="1980"/>
          </a:p>
        </p:txBody>
      </p:sp>
      <p:sp>
        <p:nvSpPr>
          <p:cNvPr id="20" name="Text 20"/>
          <p:cNvSpPr txBox="1"/>
          <p:nvPr/>
        </p:nvSpPr>
        <p:spPr>
          <a:xfrm>
            <a:off x="685800" y="4191000"/>
            <a:ext cx="4762500" cy="16840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Participación voluntaria en Glassdoor.</a:t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Países y puestos mezclados.</a:t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Textos ambiguos y etiquetas imperfectas.</a:t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/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Los modelos comparan grupos comunes; los textos</a:t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536A7D"/>
                </a:solidFill>
                <a:latin typeface="Arial"/>
                <a:ea typeface="Arial"/>
                <a:cs typeface="Arial"/>
              </a:rPr>
              <a:t>dudosos se conservan.</a:t>
            </a:r>
            <a:endParaRPr lang="es-ES" sz="1560"/>
          </a:p>
        </p:txBody>
      </p:sp>
      <p:sp>
        <p:nvSpPr>
          <p:cNvPr id="21" name="Text 21"/>
          <p:cNvSpPr txBox="1"/>
          <p:nvPr/>
        </p:nvSpPr>
        <p:spPr>
          <a:xfrm>
            <a:off x="6195060" y="3695700"/>
            <a:ext cx="5227320" cy="37338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80" b="1" dirty="0">
                <a:solidFill>
                  <a:srgbClr val="137A8A"/>
                </a:solidFill>
                <a:latin typeface="Arial"/>
                <a:ea typeface="Arial"/>
                <a:cs typeface="Arial"/>
              </a:rPr>
              <a:t>Qué hacer después</a:t>
            </a:r>
            <a:endParaRPr lang="es-ES" sz="1980"/>
          </a:p>
        </p:txBody>
      </p:sp>
      <p:sp>
        <p:nvSpPr>
          <p:cNvPr id="22" name="Text 22"/>
          <p:cNvSpPr txBox="1"/>
          <p:nvPr/>
        </p:nvSpPr>
        <p:spPr>
          <a:xfrm>
            <a:off x="6195060" y="4191000"/>
            <a:ext cx="5227320" cy="168402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 rtlCol="0">
            <a:noAutofit/>
          </a:bodyPr>
          <a:lstStyle/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1. Contrastar con entrevistas y pulsos internos.</a:t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/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2. Segmentar por puesto y país si hay datos.</a:t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/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3. Revisar más textos y evaluar clasificación con varias</a:t>
            </a:r>
            <a:endParaRPr lang="es-ES" sz="1560"/>
          </a:p>
          <a:p>
            <a:pPr algn="l" marL="0" marR="0" indent="0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60" b="0" dirty="0">
                <a:solidFill>
                  <a:srgbClr val="152B3B"/>
                </a:solidFill>
                <a:latin typeface="Arial"/>
                <a:ea typeface="Arial"/>
                <a:cs typeface="Arial"/>
              </a:rPr>
              <a:t>etiquetas.</a:t>
            </a:r>
            <a:endParaRPr lang="es-ES" sz="156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ns0:Properties xmlns:ns0="http://schemas.openxmlformats.org/officeDocument/2006/extended-properties" xmlns:vt="http://schemas.openxmlformats.org/officeDocument/2006/docPropsVTypes">
  <ns0:Application>Microsoft PowerPoint</ns0:Application>
  <ns0:PresentationFormat>On-screen Show (16:9)</ns0:PresentationFormat>
  <ns0:Slides>10</ns0:Slides>
  <ns0:Notes>10</ns0:Notes>
  <ns0:HiddenSlides>0</ns0:HiddenSlides>
  <ns0:MMClips>0</ns0:MMClips>
  <ns0:ScaleCrop>false</ns0:ScaleCrop>
  <ns0:Company/>
  <ns0:LinksUpToDate>false</ns0:LinksUpToDate>
  <ns0:SharedDoc>false</ns0:SharedDoc>
  <ns0:HyperlinksChanged>false</ns0:HyperlinksChanged>
  <ns0:AppVersion>16.0000</ns0:AppVersion>
  <ns0:HeadingPairs>
    <vt:vector size="2" baseType="variant">
      <vt:variant>
        <vt:lpstr>Slide Titles</vt:lpstr>
      </vt:variant>
      <vt:variant>
        <vt:i4>10</vt:i4>
      </vt:variant>
    </vt:vector>
  </ns0:HeadingPairs>
  <ns0:TitlesOfParts>
    <vt:vector size="10" baseType="lpstr">
      <vt:lpstr>Liderazgo: primera señal para investigar</vt:lpstr>
      <vt:lpstr>CompuCom queda por debajo de sus referencias</vt:lpstr>
      <vt:lpstr>La puntuación mejora; conviene entender por qué</vt:lpstr>
      <vt:lpstr>Aprendizaje: una fortaleza que aún hay que validar</vt:lpstr>
      <vt:lpstr>Liderazgo y compensación muestran desventaja</vt:lpstr>
      <vt:lpstr>Las quejas de liderazgo coinciden con peor valoración</vt:lpstr>
      <vt:lpstr>Liderazgo aparece más entre antiguos empleados</vt:lpstr>
      <vt:lpstr>Investigar liderazgo; auditar compensación</vt:lpstr>
      <vt:lpstr>Tres acciones ligadas a la evidencia</vt:lpstr>
      <vt:lpstr>Validar dentro de la empresa antes de generalizar</vt:lpstr>
    </vt:vector>
  </ns0:TitlesOfParts>
</ns0:Properties>
</file>