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6" roundtripDataSignature="AMtx7mhL0LXu490W35zPtHKRu6cKZ5Bi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Liderazgo: primera señal para investigar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Fuente: Parquet del caso + Glassdoor_ejemplo.ipynb; muestra fija, semilla 42.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Cobertura observada: 27/07/2018–04/07/2023. 4.000 reseñas, 1.000 por firma. Media peer aritmética, con el mismo peso para Infogain, World Wide Technology y Rackspace. Reseñas no equivalen a plantilla.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Celdas carga, eda_resumen y conclusiones_calculo. Hallazgo central: liderazgo presenta peor rating y más no recomendación; compensación requiere diagnóstico; aprendizaje es una posible fortaleza sensible al etiquetado. Peers del mismo sector y orden de magnitud, no plantillas idénticas. La competencia por perfiles técnicos se infiere por actividad, sin medir movilidad. Tamaños históricos de fechas diferentes: CompuCom 11.000 (2018), Infogain 5.000 (2021), WWT &gt;8.000 (2022), Rackspace ≈6.800 (2022). Fuentes primarias: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https://www.sec.gov/Archives/edgar/data/800240/000119312518164703/d568569dex992.htm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https://www.apax.com/news-views/apax-funds-to-acquire-infogain-from-chryscapital/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https://www.wwt.com/press-release/wwt-receives-solution-provider-of-the-year-award-for-growth-from-intel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https://www.sec.gov/Archives/edgar/data/1810019/000181001923000034/rxt-20221231.htm</a:t>
            </a:r>
            <a:endParaRPr sz="108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CompuCom queda por debajo de sus referencias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Fuente: Parquet del caso + Glassdoor_ejemplo.ipynb; muestra fija, semilla 42.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Cobertura observada: 27/07/2018–04/07/2023. 4.000 reseñas, 1.000 por firma. Media peer aritmética, con el mismo peso para Infogain, World Wide Technology y Rackspace. Reseñas no equivalen a plantilla.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Celda eda_resumen. Rating sobre 1–5. Media peer aritmética: cada empresa pesa lo mismo. La recomendación incluye o=sin opinión. Estas son opiniones de participantes, no una encuesta representativa de empleados.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Gráfica 01_rating_recomendacion: notebook Glassdoor_ejemplo.ipynb, celda grafica_01_rating_recomendacion (posición 9, contando desde 1), apartado 1. EDA. Tablas: resumen. Se incorpora exactamente el PNG mostrado allí. Rating: media de overall_rating, en puntos sobre 5. Recomendación: porcentaje sobre respuestas disponibles, incluyendo «Sin opinión». Cada empresa aporta 1.000 reseñas. Las reseñas no representan a toda la plantilla.</a:t>
            </a:r>
            <a:endParaRPr sz="108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puntuación mejora; conviene entender por qué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Fuente: Parquet del caso + Glassdoor_ejemplo.ipynb; muestra fija, semilla 42.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Cobertura observada: 27/07/2018–04/07/2023. 4.000 reseñas, 1.000 por firma. Media peer aritmética, con el mismo peso para Infogain, World Wide Technology y Rackspace. Reseñas no equivalen a plantilla.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Celda eda_temporal. Recuentos anuales completos disponibles en el notebook y CSV. La composición de reseñas puede cambiar con el tiempo. No se atribuye la evolución a una política, a una intervención ni a la pandemia. Acción: contrastar hitos internos y segmentar si hay datos por equipo/ubicación.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Gráfica 03_evolucion_rating: notebook Glassdoor_ejemplo.ipynb, celda grafica_03_evolucion_rating (posición 15, contando desde 1), apartado 1. EDA. Tablas: medias_anuales, conteos_anuales. Se incorpora exactamente el PNG mostrado allí. Rating medio por año y empresa. Solo se dibujan años con al menos MIN_RESENAS_ANIO = 20 puntuaciones. Los recuentos están en conteos_anuales. 2018 y 2023 son parciales; la evolución no demuestra efectos de políticas internas.</a:t>
            </a:r>
            <a:endParaRPr sz="108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Aprendizaje: una fortaleza que aún hay que validar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Fuente: Parquet del caso + Glassdoor_ejemplo.ipynb; muestra fija, semilla 42.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Cobertura observada: 27/07/2018–04/07/2023. 4.000 reseñas, 1.000 por firma. Media peer aritmética, con el mismo peso para Infogain, World Wide Technology y Rackspace. Reseñas no equivalen a plantilla.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Celdas taxonomia_calculo, comparacion_calculo y sensibilidad_etiquetas_calculo. Siete categorías mostradas; las restantes siguen en el denominador. Aprendizaje aparece en 6,5% de pros de CompuCom frente a 2,67% de media peer. Su gap de balance principal +3,83 pp cambia a −1,30..+4,83 pp con recodificaciones individuales plausibles. Estos rangos no son intervalos de confianza. Conciliación también cambia de signo con etiquetas alternativas. Cero asignaciones a formación/cultura en cons no demuestra ausencia de críticas; las hay en textos mixtos y no agrupados.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Gráfica 06_categorias_pros_cons: notebook Glassdoor_ejemplo.ipynb, celda grafica_06_categorias_pros_cons (posición 32, contando desde 1), apartado 4. Comparación con peers. Tablas: comparacion_peers. Se incorpora exactamente el PNG mostrado allí. Se muestran siete categorías de negocio en pros y cons; el resto sigue en el denominador. Porcentajes sobre todos los textos válidos del corpus de cada empresa. Media peer aritmética de Infogain, WWT y Rackspace. Un 0 % de formación en cons corresponde a la etiqueta principal, no prueba ausencia de quejas.</a:t>
            </a:r>
            <a:endParaRPr sz="108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Liderazgo y compensación muestran desventaja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Fuente: Parquet del caso + Glassdoor_ejemplo.ipynb; muestra fija, semilla 42.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Cobertura observada: 27/07/2018–04/07/2023. 4.000 reseñas, 1.000 por firma. Media peer aritmética, con el mismo peso para Infogain, World Wide Technology y Rackspace. Reseñas no equivalen a plantilla.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Celda comparacion_calculo. Balance por categoría: %pros − %cons; gap = balance CompuCom − media aritmética de los tres peers. Los porcentajes son relativos y usan todos los textos válidos, incluidos ambiguos/no asignados. Gap negativo no demuestra daño; se contrasta con ratings y recomendación. Aprendizaje es provisional y cambia de signo con alternativas de etiquetado.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Gráfica 07_gap_balance: notebook Glassdoor_ejemplo.ipynb, celda grafica_07_gap_balance (posición 34, contando desde 1), apartado 4. Comparación con peers. Tablas: comparacion_peers. Se incorpora exactamente el PNG mostrado allí. Balance neto = % pros − % cons. Gap = balance de CompuCom − media aritmética del balance de los tres peers. Unidad: puntos porcentuales (pp). Negativo significa desventaja relativa dentro de esta muestra; se requiere contrastar con rating y recomendación.</a:t>
            </a:r>
            <a:endParaRPr sz="108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quejas de liderazgo coinciden con peor valoración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Fuente: Parquet del caso + Glassdoor_ejemplo.ipynb; muestra fija, semilla 42.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Cobertura observada: 27/07/2018–04/07/2023. 4.000 reseñas, 1.000 por firma. Media peer aritmética, con el mismo peso para Infogain, World Wide Technology y Rackspace. Reseñas no equivalen a plantilla.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Celda comparacion_calculo, contraste_compucom. Liderazgo n=117, resto=883: rating 2,27 vs 2,99; no recomienda 64,10% vs 38,84%. Compensación n=161, resto=839: rating 2,99 vs 2,89; no recomienda 36,65% vs 42,79%. Resto significa todas las reseñas no asignadas a la categoría correspondiente, no necesariamente sin menciones: el modelo usa una categoría dominante y mantiene outliers. Los denominadores de recomendación incluyen sin opinión. No se infiere causalidad, significación ni ausencia de problemas salariales.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Gráfica 08_contraste_rating_recommend: notebook Glassdoor_ejemplo.ipynb, celda grafica_08_contraste_rating_recommend (posición 36, contando desde 1), apartado 4. Comparación con peers. Tablas: contraste_compucom. Se incorpora exactamente el PNG mostrado allí. En CompuCom se comparan reseñas cuyos cons se asignan a cada categoría con el resto de cons válidos. Rating sobre puntuaciones disponibles; no recomendaría sobre respuestas disponibles, incluyendo «Sin opinión». Los recuentos por indicador están en contraste_compucom. «Resto» significa sin asignación a esa categoría, no ausencia verificada del problema. Asociación descriptiva, sin causalidad.</a:t>
            </a:r>
            <a:endParaRPr sz="108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Liderazgo aparece más entre antiguos empleados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Fuente: Parquet del caso + Glassdoor_ejemplo.ipynb; muestra fija, semilla 42.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Cobertura observada: 27/07/2018–04/07/2023. 4.000 reseñas, 1.000 por firma. Media peer aritmética, con el mismo peso para Infogain, World Wide Technology y Rackspace. Reseñas no equivalen a plantilla.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Celda actuales_antiguos_calculo. Porcentajes de cons por grupo, incluidos outliers. Media aritmética de antiguos de Infogain/WWT/Rackspace. Liderazgo 13,85% antiguos CompuCom, 9,85% actuales y 11,15% media de antiguos peers. Experiencias asociadas a salidas, no causas de rotación verificadas. El rating más bajo de antiguos puede reflejar selección; no se estima tasa de rotación.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Gráfica 09_actuales_antiguos: notebook Glassdoor_ejemplo.ipynb, celda grafica_09_actuales_antiguos (posición 44, contando desde 1), apartado 5. Actuales y antiguos. Tablas: tabla_actuales_vs_antiguos, comparacion_cons_antiguos_peers, n_compucom_situacion, n_antiguos_por_empresa. Se incorpora exactamente el PNG mostrado allí. Porcentajes sobre cons válidos de cada grupo: actuales y antiguos de CompuCom, y media aritmética de antiguos de los tres peers. Los denominadores se muestran en este apartado; los grupos tienen tamaños distintos. Son experiencias asociadas a salidas, no motivos de rotación demostrados.</a:t>
            </a:r>
            <a:endParaRPr sz="108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Investigar liderazgo; auditar compensación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Fuente: Parquet del caso + Glassdoor_ejemplo.ipynb; muestra fija, semilla 42.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Cobertura observada: 27/07/2018–04/07/2023. 4.000 reseñas, 1.000 por firma. Media peer aritmética, con el mismo peso para Infogain, World Wide Technology y Rackspace. Reseñas no equivalen a plantilla.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Celda priorizacion_calculo. X=%cons CompuCom, Y=−gap de balance: positivo = peor que peers. Tamaño depende del número de casos. Rojo: menor rating y más no recomendación; verde azulado: no se confirman ambos. Se excluyen categorías no accionables y sin casos. Compensación es frecuente y tiene desventaja, pero sus indicadores no confirman peor experiencia; diagnosticar antes de decidir cambios. El umbral de 5% ordena trabajo, no demuestra importancia causal o estadística.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Gráfica 10_matriz_priorizacion: notebook Glassdoor_ejemplo.ipynb, celda grafica_10_matriz_priorizacion (posición 48, contando desde 1), apartado 6. Priorización. Tablas: matriz_priorizacion. Se incorpora exactamente el PNG mostrado allí. Eje X: peso de la categoría en cons de CompuCom. Eje Y: desventaja = −gap de balance, en pp; mayor valor indica peor posición relativa. Rojo: menor rating y mayor no recomendación; azul: el contraste no confirma ambos indicadores. El tamaño refleja casos. El corte de 5 % es operativo, no estadístico. No estima impacto causal ni ahorro.</a:t>
            </a:r>
            <a:endParaRPr sz="108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Tres acciones ligadas a la evidencia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Fuente: Parquet del caso + Glassdoor_ejemplo.ipynb; muestra fija, semilla 42.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Cobertura observada: 27/07/2018–04/07/2023. 4.000 reseñas, 1.000 por firma. Media peer aritmética, con el mismo peso para Infogain, World Wide Technology y Rackspace. Reseñas no equivalen a plantilla.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Celda conclusiones_calculo. Se prioriza señal coherente de liderazgo, diagnóstico de compensación y validación de aprendizaje. Los plazos son propuestas, no resultados observados.</a:t>
            </a:r>
            <a:endParaRPr sz="108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Validar dentro de la empresa antes de generalizar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Fuente: Parquet del caso + Glassdoor_ejemplo.ipynb; muestra fija, semilla 42.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Cobertura observada: 27/07/2018–04/07/2023. 4.000 reseñas, 1.000 por firma. Media peer aritmética, con el mismo peso para Infogain, World Wide Technology y Rackspace. Reseñas no equivalen a plantilla.</a:t>
            </a:r>
            <a:endParaRPr sz="108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0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Celdas sentimiento_calculo, sentimiento_revision, topics_calculo, taxonomia_calculo y outliers_revision. CompuCom cons: 389/1.000 accionables, 74/1.000 sin aspecto concreto, 95/1.000 mixtos y 442/1.000 no asignados. Se mantienen en denominadores y no se fuerzan a categorías; hay quejas de sueldo y gestión también entre outliers. Sentimiento: mayoría de pros positivos y cons negativos; 13 cons truncados de 4.000, 0 pros. Correspondencia con el campo y confianza del modelo no equivalen a precisión. Muestra manual discordante no permite estimarla. Un transformer inglés binario preentrenado aporta control rápido de polaridad; máximo 512 tokens evita errores pero puede perder contexto. Modelos comunes de topics (pros y cons separados, las cuatro firmas juntas) evitan comparar categorías incompatibles. Embeddings agrupan sinónimos; min_df=5 reduce términos aislados; grupos mínimos de 30 textos (0,75% del corpus) evitan priorizar anécdotas pero pueden ocultar minorías. Leaf en cons separa asuntos revisables tras un ajuste inicial genérico; categorías revisadas traducen patrones a palancas de RR. HH. Limitaciones: autoselección, mezcla de países/puestos, muestreo y etiquetas imperfectas. Próximos pasos: entrevistas/pulsos internos; segmentación por país/puesto si hay datos; revisión humana adicional y evaluar clasificación multietiqueta si hay etiquetas suficientes.</a:t>
            </a:r>
            <a:endParaRPr sz="108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pc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pc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37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 txBox="1"/>
          <p:nvPr/>
        </p:nvSpPr>
        <p:spPr>
          <a:xfrm>
            <a:off x="495300" y="304800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ES" spc="0" sz="1200" u="none" cap="none" strike="noStrike">
                <a:solidFill>
                  <a:srgbClr val="137A8A"/>
                </a:solidFill>
                <a:latin typeface="Arial"/>
                <a:ea typeface="Arial"/>
                <a:cs typeface="Arial"/>
                <a:sym typeface="Arial"/>
              </a:rPr>
              <a:t>COMPUCOM · DIAGNÓSTICO DE MARCA EMPLEADORA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95300" y="647700"/>
            <a:ext cx="11201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40"/>
              <a:buFont typeface="Arial"/>
              <a:buNone/>
            </a:pPr>
            <a:r>
              <a:rPr b="1" i="0" lang="es-ES" spc="0" sz="294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Liderazgo: primera señal para investigar</a:t>
            </a:r>
            <a:endParaRPr b="0" i="0" spc="0" sz="29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95300" y="1562100"/>
            <a:ext cx="1112520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pc="0" sz="150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Qué mejorar para retener talento y qué validar antes de atraer candidatos.</a:t>
            </a:r>
            <a:endParaRPr b="0" i="0" spc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495300" y="6385560"/>
            <a:ext cx="10668000" cy="327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t/>
            </a:r>
            <a:endParaRPr b="0" i="0" spc="0" sz="10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11277600" y="6416040"/>
            <a:ext cx="441960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b="0" i="0" lang="es-ES" spc="0" sz="108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pc="0" sz="10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"/>
          <p:cNvSpPr/>
          <p:nvPr/>
        </p:nvSpPr>
        <p:spPr>
          <a:xfrm>
            <a:off x="495300" y="2171700"/>
            <a:ext cx="3467100" cy="187452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"/>
          <p:cNvSpPr/>
          <p:nvPr/>
        </p:nvSpPr>
        <p:spPr>
          <a:xfrm>
            <a:off x="495300" y="2171700"/>
            <a:ext cx="3467100" cy="60960"/>
          </a:xfrm>
          <a:prstGeom prst="rect">
            <a:avLst/>
          </a:prstGeom>
          <a:solidFill>
            <a:srgbClr val="BB51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"/>
          <p:cNvSpPr txBox="1"/>
          <p:nvPr/>
        </p:nvSpPr>
        <p:spPr>
          <a:xfrm>
            <a:off x="685800" y="2392680"/>
            <a:ext cx="3086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40"/>
              <a:buFont typeface="Arial"/>
              <a:buNone/>
            </a:pPr>
            <a:r>
              <a:rPr b="1" i="0" lang="es-ES" spc="0" sz="2040" u="none" cap="none" strike="noStrike">
                <a:solidFill>
                  <a:srgbClr val="BB5148"/>
                </a:solidFill>
                <a:latin typeface="Arial"/>
                <a:ea typeface="Arial"/>
                <a:cs typeface="Arial"/>
                <a:sym typeface="Arial"/>
              </a:rPr>
              <a:t>Retención</a:t>
            </a:r>
            <a:endParaRPr b="0" i="0" spc="0" sz="20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685800" y="2987040"/>
            <a:ext cx="30861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0"/>
              <a:buFont typeface="Arial"/>
              <a:buNone/>
            </a:pPr>
            <a:r>
              <a:rPr b="0" i="0" lang="es-ES" spc="0" sz="174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Investigar trato, comunicación</a:t>
            </a:r>
            <a:endParaRPr b="0" i="0" spc="0" sz="17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0"/>
              <a:buFont typeface="Arial"/>
              <a:buNone/>
            </a:pPr>
            <a:r>
              <a:rPr b="0" i="0" lang="es-ES" spc="0" sz="174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y autonomía de los equipos.</a:t>
            </a:r>
            <a:endParaRPr b="0" i="0" spc="0" sz="17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4229100" y="2171700"/>
            <a:ext cx="3467100" cy="187452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"/>
          <p:cNvSpPr/>
          <p:nvPr/>
        </p:nvSpPr>
        <p:spPr>
          <a:xfrm>
            <a:off x="4229100" y="2171700"/>
            <a:ext cx="3467100" cy="60960"/>
          </a:xfrm>
          <a:prstGeom prst="rect">
            <a:avLst/>
          </a:prstGeom>
          <a:solidFill>
            <a:srgbClr val="C991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"/>
          <p:cNvSpPr txBox="1"/>
          <p:nvPr/>
        </p:nvSpPr>
        <p:spPr>
          <a:xfrm>
            <a:off x="4419600" y="2392680"/>
            <a:ext cx="3086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40"/>
              <a:buFont typeface="Arial"/>
              <a:buNone/>
            </a:pPr>
            <a:r>
              <a:rPr b="1" i="0" lang="es-ES" spc="0" sz="2040" u="none" cap="none" strike="noStrike">
                <a:solidFill>
                  <a:srgbClr val="C99128"/>
                </a:solidFill>
                <a:latin typeface="Arial"/>
                <a:ea typeface="Arial"/>
                <a:cs typeface="Arial"/>
                <a:sym typeface="Arial"/>
              </a:rPr>
              <a:t>Compensación</a:t>
            </a:r>
            <a:endParaRPr b="0" i="0" spc="0" sz="20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 txBox="1"/>
          <p:nvPr/>
        </p:nvSpPr>
        <p:spPr>
          <a:xfrm>
            <a:off x="4419600" y="2987040"/>
            <a:ext cx="30861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0"/>
              <a:buFont typeface="Arial"/>
              <a:buNone/>
            </a:pPr>
            <a:r>
              <a:rPr b="0" i="0" lang="es-ES" spc="0" sz="174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Revisar equidad y</a:t>
            </a:r>
            <a:endParaRPr b="0" i="0" spc="0" sz="17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0"/>
              <a:buFont typeface="Arial"/>
              <a:buNone/>
            </a:pPr>
            <a:r>
              <a:rPr b="0" i="0" lang="es-ES" spc="0" sz="174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competitividad antes de decidir</a:t>
            </a:r>
            <a:endParaRPr b="0" i="0" spc="0" sz="17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0"/>
              <a:buFont typeface="Arial"/>
              <a:buNone/>
            </a:pPr>
            <a:r>
              <a:rPr b="0" i="0" lang="es-ES" spc="0" sz="174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cambios.</a:t>
            </a:r>
            <a:endParaRPr b="0" i="0" spc="0" sz="17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7962900" y="2171700"/>
            <a:ext cx="3467100" cy="187452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"/>
          <p:cNvSpPr/>
          <p:nvPr/>
        </p:nvSpPr>
        <p:spPr>
          <a:xfrm>
            <a:off x="7962900" y="2171700"/>
            <a:ext cx="3467100" cy="60960"/>
          </a:xfrm>
          <a:prstGeom prst="rect">
            <a:avLst/>
          </a:prstGeom>
          <a:solidFill>
            <a:srgbClr val="137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"/>
          <p:cNvSpPr txBox="1"/>
          <p:nvPr/>
        </p:nvSpPr>
        <p:spPr>
          <a:xfrm>
            <a:off x="8153400" y="2392680"/>
            <a:ext cx="3086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40"/>
              <a:buFont typeface="Arial"/>
              <a:buNone/>
            </a:pPr>
            <a:r>
              <a:rPr b="1" i="0" lang="es-ES" spc="0" sz="2040" u="none" cap="none" strike="noStrike">
                <a:solidFill>
                  <a:srgbClr val="137A8A"/>
                </a:solidFill>
                <a:latin typeface="Arial"/>
                <a:ea typeface="Arial"/>
                <a:cs typeface="Arial"/>
                <a:sym typeface="Arial"/>
              </a:rPr>
              <a:t>Atracción</a:t>
            </a:r>
            <a:endParaRPr b="0" i="0" spc="0" sz="20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8153400" y="2987040"/>
            <a:ext cx="30861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0"/>
              <a:buFont typeface="Arial"/>
              <a:buNone/>
            </a:pPr>
            <a:r>
              <a:rPr b="0" i="0" lang="es-ES" spc="0" sz="174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Validar la experiencia de</a:t>
            </a:r>
            <a:endParaRPr b="0" i="0" spc="0" sz="17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0"/>
              <a:buFont typeface="Arial"/>
              <a:buNone/>
            </a:pPr>
            <a:r>
              <a:rPr b="0" i="0" lang="es-ES" spc="0" sz="174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aprendizaje antes de</a:t>
            </a:r>
            <a:endParaRPr b="0" i="0" spc="0" sz="17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0"/>
              <a:buFont typeface="Arial"/>
              <a:buNone/>
            </a:pPr>
            <a:r>
              <a:rPr b="0" i="0" lang="es-ES" spc="0" sz="174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comunicarla.</a:t>
            </a:r>
            <a:endParaRPr b="0" i="0" spc="0" sz="17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"/>
          <p:cNvSpPr/>
          <p:nvPr/>
        </p:nvSpPr>
        <p:spPr>
          <a:xfrm>
            <a:off x="495300" y="4328160"/>
            <a:ext cx="10934700" cy="1760220"/>
          </a:xfrm>
          <a:prstGeom prst="rect">
            <a:avLst/>
          </a:prstGeom>
          <a:solidFill>
            <a:srgbClr val="EA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"/>
          <p:cNvSpPr txBox="1"/>
          <p:nvPr/>
        </p:nvSpPr>
        <p:spPr>
          <a:xfrm>
            <a:off x="685800" y="4495800"/>
            <a:ext cx="5410200" cy="1348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b="0" i="0" lang="es-ES" spc="0" sz="162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Referencias: Infogain, World Wide Technology y</a:t>
            </a:r>
            <a:endParaRPr b="0" i="0" spc="0" sz="16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b="0" i="0" lang="es-ES" spc="0" sz="162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Rackspace Technology.</a:t>
            </a:r>
            <a:endParaRPr b="0" i="0" spc="0" sz="16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t/>
            </a:r>
            <a:endParaRPr b="0" i="0" spc="0" sz="16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b="0" i="0" lang="es-ES" spc="0" sz="162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Servicios TI; escala histórica aproximada de 5.000–11.000</a:t>
            </a:r>
            <a:endParaRPr b="0" i="0" spc="0" sz="16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b="0" i="0" lang="es-ES" spc="0" sz="162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personas.</a:t>
            </a:r>
            <a:endParaRPr b="0" i="0" spc="0" sz="16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"/>
          <p:cNvSpPr txBox="1"/>
          <p:nvPr/>
        </p:nvSpPr>
        <p:spPr>
          <a:xfrm>
            <a:off x="6591300" y="4495800"/>
            <a:ext cx="4594860" cy="1348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b="0" i="0" lang="es-ES" spc="0" sz="16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4.000 reseñas · 1.000 por empresa.</a:t>
            </a:r>
            <a:endParaRPr b="0" i="0" spc="0" sz="16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b="0" i="0" lang="es-ES" spc="0" sz="16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Semilla 42; 0 duplicados.</a:t>
            </a:r>
            <a:endParaRPr b="0" i="0" spc="0" sz="16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t/>
            </a:r>
            <a:endParaRPr b="0" i="0" spc="0" sz="16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b="0" i="0" lang="es-ES" spc="0" sz="16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La muestra no representa automáticamente a</a:t>
            </a:r>
            <a:endParaRPr b="0" i="0" spc="0" sz="16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b="0" i="0" lang="es-ES" spc="0" sz="16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toda la plantilla.</a:t>
            </a:r>
            <a:endParaRPr b="0" i="0" spc="0" sz="16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37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 txBox="1"/>
          <p:nvPr/>
        </p:nvSpPr>
        <p:spPr>
          <a:xfrm>
            <a:off x="495300" y="304800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ES" spc="0" sz="1200" u="none" cap="none" strike="noStrike">
                <a:solidFill>
                  <a:srgbClr val="137A8A"/>
                </a:solidFill>
                <a:latin typeface="Arial"/>
                <a:ea typeface="Arial"/>
                <a:cs typeface="Arial"/>
                <a:sym typeface="Arial"/>
              </a:rPr>
              <a:t>REPUTACIÓN COMO EMPLEADOR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495300" y="647700"/>
            <a:ext cx="11201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40"/>
              <a:buFont typeface="Arial"/>
              <a:buNone/>
            </a:pPr>
            <a:r>
              <a:rPr b="1" i="0" lang="es-ES" spc="0" sz="294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CompuCom queda por debajo de sus referencias</a:t>
            </a:r>
            <a:endParaRPr b="0" i="0" spc="0" sz="29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 txBox="1"/>
          <p:nvPr/>
        </p:nvSpPr>
        <p:spPr>
          <a:xfrm>
            <a:off x="495300" y="1562100"/>
            <a:ext cx="1112520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pc="0" sz="150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La brecha aparece tanto en la puntuación como en la recomendación.</a:t>
            </a:r>
            <a:endParaRPr b="0" i="0" spc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"/>
          <p:cNvSpPr txBox="1"/>
          <p:nvPr/>
        </p:nvSpPr>
        <p:spPr>
          <a:xfrm>
            <a:off x="495300" y="6385560"/>
            <a:ext cx="10668000" cy="327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b="0" i="0" lang="es-ES" spc="0" sz="108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n=1.000 por empresa. % incluye Sí / Sin opinión / No; pp = diferencia entre porcentajes.</a:t>
            </a:r>
            <a:endParaRPr b="0" i="0" spc="0" sz="10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11277600" y="6416040"/>
            <a:ext cx="441960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b="0" i="0" lang="es-ES" spc="0" sz="108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pc="0" sz="10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1 rating recomendacion" id="85" name="Google Shape;8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2362913"/>
            <a:ext cx="8305800" cy="338947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"/>
          <p:cNvSpPr txBox="1"/>
          <p:nvPr/>
        </p:nvSpPr>
        <p:spPr>
          <a:xfrm>
            <a:off x="495300" y="6164580"/>
            <a:ext cx="8305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0"/>
              <a:buFont typeface="Arial"/>
              <a:buNone/>
            </a:pPr>
            <a:r>
              <a:t/>
            </a:r>
            <a:endParaRPr b="0" i="0" spc="0" sz="10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9105900" y="2171700"/>
            <a:ext cx="2590800" cy="18288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 txBox="1"/>
          <p:nvPr/>
        </p:nvSpPr>
        <p:spPr>
          <a:xfrm>
            <a:off x="9281160" y="2293620"/>
            <a:ext cx="224028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r>
              <a:rPr b="1" i="0" lang="es-ES" spc="0" sz="2880" u="none" cap="none" strike="noStrike">
                <a:solidFill>
                  <a:srgbClr val="137A8A"/>
                </a:solidFill>
                <a:latin typeface="Arial"/>
                <a:ea typeface="Arial"/>
                <a:cs typeface="Arial"/>
                <a:sym typeface="Arial"/>
              </a:rPr>
              <a:t>-0,88 puntos</a:t>
            </a:r>
            <a:endParaRPr b="0" i="0" spc="0" sz="28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9281160" y="2887980"/>
            <a:ext cx="224028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1" i="0" lang="es-ES" spc="0" sz="132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Brecha de rating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9281160" y="3215640"/>
            <a:ext cx="2240280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2,91 frente a 3,79.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9105900" y="4114800"/>
            <a:ext cx="2590800" cy="18288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"/>
          <p:cNvSpPr txBox="1"/>
          <p:nvPr/>
        </p:nvSpPr>
        <p:spPr>
          <a:xfrm>
            <a:off x="9281160" y="4236720"/>
            <a:ext cx="224028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r>
              <a:rPr b="1" i="0" lang="es-ES" spc="0" sz="2880" u="none" cap="none" strike="noStrike">
                <a:solidFill>
                  <a:srgbClr val="137A8A"/>
                </a:solidFill>
                <a:latin typeface="Arial"/>
                <a:ea typeface="Arial"/>
                <a:cs typeface="Arial"/>
                <a:sym typeface="Arial"/>
              </a:rPr>
              <a:t>-25,67 pp</a:t>
            </a:r>
            <a:endParaRPr b="0" i="0" spc="0" sz="28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9281160" y="4831080"/>
            <a:ext cx="224028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1" i="0" lang="es-ES" spc="0" sz="132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Brecha de recomendación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9281160" y="5158740"/>
            <a:ext cx="2240280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Contrastar con escucha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interna por equipo y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ubicación.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37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 txBox="1"/>
          <p:nvPr/>
        </p:nvSpPr>
        <p:spPr>
          <a:xfrm>
            <a:off x="495300" y="304800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ES" spc="0" sz="1200" u="none" cap="none" strike="noStrike">
                <a:solidFill>
                  <a:srgbClr val="137A8A"/>
                </a:solidFill>
                <a:latin typeface="Arial"/>
                <a:ea typeface="Arial"/>
                <a:cs typeface="Arial"/>
                <a:sym typeface="Arial"/>
              </a:rPr>
              <a:t>EVOLUCIÓN DE LA EXPERIENCIA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495300" y="647700"/>
            <a:ext cx="11201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40"/>
              <a:buFont typeface="Arial"/>
              <a:buNone/>
            </a:pPr>
            <a:r>
              <a:rPr b="1" i="0" lang="es-ES" spc="0" sz="294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La puntuación mejora; conviene entender por qué</a:t>
            </a:r>
            <a:endParaRPr b="0" i="0" spc="0" sz="29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495300" y="1562100"/>
            <a:ext cx="1112520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pc="0" sz="150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Revisar qué equipos y experiencias coinciden con esta evolución.</a:t>
            </a:r>
            <a:endParaRPr b="0" i="0" spc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495300" y="6385560"/>
            <a:ext cx="10668000" cy="327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b="0" i="0" lang="es-ES" spc="0" sz="108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2018 y 2023 son parciales; mínimo de 20 reseñas por empresa y año mostrado.</a:t>
            </a:r>
            <a:endParaRPr b="0" i="0" spc="0" sz="10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11277600" y="6416040"/>
            <a:ext cx="441960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b="0" i="0" lang="es-ES" spc="0" sz="108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pc="0" sz="10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3 evolucion rating"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2340125"/>
            <a:ext cx="8305800" cy="343504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"/>
          <p:cNvSpPr txBox="1"/>
          <p:nvPr/>
        </p:nvSpPr>
        <p:spPr>
          <a:xfrm>
            <a:off x="495300" y="6164580"/>
            <a:ext cx="8305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0"/>
              <a:buFont typeface="Arial"/>
              <a:buNone/>
            </a:pPr>
            <a:r>
              <a:t/>
            </a:r>
            <a:endParaRPr b="0" i="0" spc="0" sz="10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9105900" y="2171700"/>
            <a:ext cx="2590800" cy="18288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9281160" y="2293620"/>
            <a:ext cx="224028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r>
              <a:rPr b="1" i="0" lang="es-ES" spc="0" sz="2880" u="none" cap="none" strike="noStrike">
                <a:solidFill>
                  <a:srgbClr val="137A8A"/>
                </a:solidFill>
                <a:latin typeface="Arial"/>
                <a:ea typeface="Arial"/>
                <a:cs typeface="Arial"/>
                <a:sym typeface="Arial"/>
              </a:rPr>
              <a:t>2,44</a:t>
            </a:r>
            <a:endParaRPr b="0" i="0" spc="0" sz="28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9281160" y="2887980"/>
            <a:ext cx="224028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1" i="0" lang="es-ES" spc="0" sz="132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CompuCom 2018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9281160" y="3215640"/>
            <a:ext cx="2240280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n=64 reseñas.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9105900" y="4114800"/>
            <a:ext cx="2590800" cy="18288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9281160" y="4236720"/>
            <a:ext cx="224028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r>
              <a:rPr b="1" i="0" lang="es-ES" spc="0" sz="2880" u="none" cap="none" strike="noStrike">
                <a:solidFill>
                  <a:srgbClr val="137A8A"/>
                </a:solidFill>
                <a:latin typeface="Arial"/>
                <a:ea typeface="Arial"/>
                <a:cs typeface="Arial"/>
                <a:sym typeface="Arial"/>
              </a:rPr>
              <a:t>3,47</a:t>
            </a:r>
            <a:endParaRPr b="0" i="0" spc="0" sz="28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9281160" y="4831080"/>
            <a:ext cx="224028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1" i="0" lang="es-ES" spc="0" sz="132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CompuCom 2023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9281160" y="5158740"/>
            <a:ext cx="2240280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n=47 reseñas; año parcial.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37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495300" y="304800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ES" spc="0" sz="1200" u="none" cap="none" strike="noStrike">
                <a:solidFill>
                  <a:srgbClr val="137A8A"/>
                </a:solidFill>
                <a:latin typeface="Arial"/>
                <a:ea typeface="Arial"/>
                <a:cs typeface="Arial"/>
                <a:sym typeface="Arial"/>
              </a:rPr>
              <a:t>FORTALEZAS Y FRICCIONES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495300" y="647700"/>
            <a:ext cx="11201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40"/>
              <a:buFont typeface="Arial"/>
              <a:buNone/>
            </a:pPr>
            <a:r>
              <a:rPr b="1" i="0" lang="es-ES" spc="0" sz="294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Aprendizaje: una fortaleza que aún hay que validar</a:t>
            </a:r>
            <a:endParaRPr b="0" i="0" spc="0" sz="29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495300" y="1562100"/>
            <a:ext cx="1112520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pc="0" sz="150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Los elogios y las quejas se comparan con las mismas referencias.</a:t>
            </a:r>
            <a:endParaRPr b="0" i="0" spc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495300" y="6385560"/>
            <a:ext cx="10668000" cy="327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b="0" i="0" lang="es-ES" spc="0" sz="108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% = reseñas de cada categoría / 1.000 textos válidos; categorías seleccionadas.</a:t>
            </a:r>
            <a:endParaRPr b="0" i="0" spc="0" sz="10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11277600" y="6416040"/>
            <a:ext cx="441960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b="0" i="0" lang="es-ES" spc="0" sz="108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pc="0" sz="10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6 categorias pros cons" id="125" name="Google Shape;1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948" y="2057400"/>
            <a:ext cx="8222504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"/>
          <p:cNvSpPr txBox="1"/>
          <p:nvPr/>
        </p:nvSpPr>
        <p:spPr>
          <a:xfrm>
            <a:off x="495300" y="6164580"/>
            <a:ext cx="8305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0"/>
              <a:buFont typeface="Arial"/>
              <a:buNone/>
            </a:pPr>
            <a:r>
              <a:t/>
            </a:r>
            <a:endParaRPr b="0" i="0" spc="0" sz="10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9105900" y="2171700"/>
            <a:ext cx="2590800" cy="18669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9281160" y="2293620"/>
            <a:ext cx="224028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r>
              <a:rPr b="1" i="0" lang="es-ES" spc="0" sz="2880" u="none" cap="none" strike="noStrike">
                <a:solidFill>
                  <a:srgbClr val="137A8A"/>
                </a:solidFill>
                <a:latin typeface="Arial"/>
                <a:ea typeface="Arial"/>
                <a:cs typeface="Arial"/>
                <a:sym typeface="Arial"/>
              </a:rPr>
              <a:t>6,5 %</a:t>
            </a:r>
            <a:endParaRPr b="0" i="0" spc="0" sz="28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9281160" y="2887980"/>
            <a:ext cx="224028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1" i="0" lang="es-ES" spc="0" sz="132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Pros de aprendizaje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9281160" y="3215640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Referencias: 2,67 %.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Posible mensaje para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selección.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9105900" y="4229100"/>
            <a:ext cx="2590800" cy="18288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9281160" y="4351020"/>
            <a:ext cx="224028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r>
              <a:rPr b="1" i="0" lang="es-ES" spc="0" sz="2880" u="none" cap="none" strike="noStrike">
                <a:solidFill>
                  <a:srgbClr val="C99128"/>
                </a:solidFill>
                <a:latin typeface="Arial"/>
                <a:ea typeface="Arial"/>
                <a:cs typeface="Arial"/>
                <a:sym typeface="Arial"/>
              </a:rPr>
              <a:t>Provisional</a:t>
            </a:r>
            <a:endParaRPr b="0" i="0" spc="0" sz="28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9281160" y="4945380"/>
            <a:ext cx="224028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1" i="0" lang="es-ES" spc="0" sz="132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Validar antes de anunciar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9281160" y="5273040"/>
            <a:ext cx="2240280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El balance cambia de signo al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revisar etiquetas ambiguas.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37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 txBox="1"/>
          <p:nvPr/>
        </p:nvSpPr>
        <p:spPr>
          <a:xfrm>
            <a:off x="495300" y="304800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ES" spc="0" sz="1200" u="none" cap="none" strike="noStrike">
                <a:solidFill>
                  <a:srgbClr val="137A8A"/>
                </a:solidFill>
                <a:latin typeface="Arial"/>
                <a:ea typeface="Arial"/>
                <a:cs typeface="Arial"/>
                <a:sym typeface="Arial"/>
              </a:rPr>
              <a:t>COMPARACIÓN CON EL MERCADO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495300" y="647700"/>
            <a:ext cx="11201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40"/>
              <a:buFont typeface="Arial"/>
              <a:buNone/>
            </a:pPr>
            <a:r>
              <a:rPr b="1" i="0" lang="es-ES" spc="0" sz="294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Liderazgo y compensación muestran desventaja</a:t>
            </a:r>
            <a:endParaRPr b="0" i="0" spc="0" sz="29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495300" y="1562100"/>
            <a:ext cx="1112520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pc="0" sz="150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Balance = % elogios − % quejas; brecha = balance propio − media de referencias.</a:t>
            </a:r>
            <a:endParaRPr b="0" i="0" spc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495300" y="6385560"/>
            <a:ext cx="10668000" cy="327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b="0" i="0" lang="es-ES" spc="0" sz="108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pp = puntos porcentuales; valores negativos indican desventaja relativa.</a:t>
            </a:r>
            <a:endParaRPr b="0" i="0" spc="0" sz="10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11277600" y="6416040"/>
            <a:ext cx="441960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b="0" i="0" lang="es-ES" spc="0" sz="108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pc="0" sz="10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7 gap balance" id="145" name="Google Shape;1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812" y="2057400"/>
            <a:ext cx="7814776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"/>
          <p:cNvSpPr txBox="1"/>
          <p:nvPr/>
        </p:nvSpPr>
        <p:spPr>
          <a:xfrm>
            <a:off x="495300" y="6164580"/>
            <a:ext cx="8305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0"/>
              <a:buFont typeface="Arial"/>
              <a:buNone/>
            </a:pPr>
            <a:r>
              <a:t/>
            </a:r>
            <a:endParaRPr b="0" i="0" spc="0" sz="10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9105900" y="2171700"/>
            <a:ext cx="2590800" cy="18288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9281160" y="2293620"/>
            <a:ext cx="224028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r>
              <a:rPr b="1" i="0" lang="es-ES" spc="0" sz="2880" u="none" cap="none" strike="noStrike">
                <a:solidFill>
                  <a:srgbClr val="BB5148"/>
                </a:solidFill>
                <a:latin typeface="Arial"/>
                <a:ea typeface="Arial"/>
                <a:cs typeface="Arial"/>
                <a:sym typeface="Arial"/>
              </a:rPr>
              <a:t>-5,23 pp</a:t>
            </a:r>
            <a:endParaRPr b="0" i="0" spc="0" sz="28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9281160" y="2887980"/>
            <a:ext cx="224028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1" i="0" lang="es-ES" spc="0" sz="132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Liderazgo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9281160" y="3215640"/>
            <a:ext cx="2240280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La validación de indicadores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es coherente.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9105900" y="4114800"/>
            <a:ext cx="2590800" cy="18288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9281160" y="4236720"/>
            <a:ext cx="224028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r>
              <a:rPr b="1" i="0" lang="es-ES" spc="0" sz="2880" u="none" cap="none" strike="noStrike">
                <a:solidFill>
                  <a:srgbClr val="C99128"/>
                </a:solidFill>
                <a:latin typeface="Arial"/>
                <a:ea typeface="Arial"/>
                <a:cs typeface="Arial"/>
                <a:sym typeface="Arial"/>
              </a:rPr>
              <a:t>-7,77 pp</a:t>
            </a:r>
            <a:endParaRPr b="0" i="0" spc="0" sz="28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9281160" y="4831080"/>
            <a:ext cx="224028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1" i="0" lang="es-ES" spc="0" sz="132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Compensación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9281160" y="5158740"/>
            <a:ext cx="2240280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La brecha temática no basta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para decidir una intervención.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37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 txBox="1"/>
          <p:nvPr/>
        </p:nvSpPr>
        <p:spPr>
          <a:xfrm>
            <a:off x="495300" y="304800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ES" spc="0" sz="1200" u="none" cap="none" strike="noStrike">
                <a:solidFill>
                  <a:srgbClr val="137A8A"/>
                </a:solidFill>
                <a:latin typeface="Arial"/>
                <a:ea typeface="Arial"/>
                <a:cs typeface="Arial"/>
                <a:sym typeface="Arial"/>
              </a:rPr>
              <a:t>CONTRASTE CON LA EXPERIENCIA GLOBAL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495300" y="647700"/>
            <a:ext cx="11201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40"/>
              <a:buFont typeface="Arial"/>
              <a:buNone/>
            </a:pPr>
            <a:r>
              <a:rPr b="1" i="0" lang="es-ES" spc="0" sz="294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Las quejas de liderazgo coinciden con peor valoración</a:t>
            </a:r>
            <a:endParaRPr b="0" i="0" spc="0" sz="29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495300" y="1562100"/>
            <a:ext cx="1112520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pc="0" sz="150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Compensación requiere diagnóstico: estos indicadores no confirman el deterioro.</a:t>
            </a:r>
            <a:endParaRPr b="0" i="0" spc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495300" y="6385560"/>
            <a:ext cx="10668000" cy="327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b="0" i="0" lang="es-ES" spc="0" sz="108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Resto = reseñas cuyo cons no se asigna a esa categoría. Asociación descriptiva.</a:t>
            </a:r>
            <a:endParaRPr b="0" i="0" spc="0" sz="10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 txBox="1"/>
          <p:nvPr/>
        </p:nvSpPr>
        <p:spPr>
          <a:xfrm>
            <a:off x="11277600" y="6416040"/>
            <a:ext cx="441960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b="0" i="0" lang="es-ES" spc="0" sz="108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pc="0" sz="10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8 contraste rating recommend" id="165" name="Google Shape;16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2266723"/>
            <a:ext cx="8305800" cy="358185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6"/>
          <p:cNvSpPr txBox="1"/>
          <p:nvPr/>
        </p:nvSpPr>
        <p:spPr>
          <a:xfrm>
            <a:off x="495300" y="6164580"/>
            <a:ext cx="8305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0"/>
              <a:buFont typeface="Arial"/>
              <a:buNone/>
            </a:pPr>
            <a:r>
              <a:t/>
            </a:r>
            <a:endParaRPr b="0" i="0" spc="0" sz="10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9105900" y="2171700"/>
            <a:ext cx="2590800" cy="18288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 txBox="1"/>
          <p:nvPr/>
        </p:nvSpPr>
        <p:spPr>
          <a:xfrm>
            <a:off x="9281160" y="2293620"/>
            <a:ext cx="224028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r>
              <a:rPr b="1" i="0" lang="es-ES" spc="0" sz="2880" u="none" cap="none" strike="noStrike">
                <a:solidFill>
                  <a:srgbClr val="BB5148"/>
                </a:solidFill>
                <a:latin typeface="Arial"/>
                <a:ea typeface="Arial"/>
                <a:cs typeface="Arial"/>
                <a:sym typeface="Arial"/>
              </a:rPr>
              <a:t>Liderazgo</a:t>
            </a:r>
            <a:endParaRPr b="0" i="0" spc="0" sz="28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9281160" y="2887980"/>
            <a:ext cx="224028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1" i="0" lang="es-ES" spc="0" sz="132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Señal coherente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9281160" y="3215640"/>
            <a:ext cx="2240280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Menor rating y más no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recomendación.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9105900" y="4114800"/>
            <a:ext cx="2590800" cy="18288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9281160" y="4236720"/>
            <a:ext cx="224028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0"/>
              <a:buFont typeface="Arial"/>
              <a:buNone/>
            </a:pPr>
            <a:r>
              <a:rPr b="1" i="0" lang="es-ES" spc="0" sz="2460" u="none" cap="none" strike="noStrike">
                <a:solidFill>
                  <a:srgbClr val="C99128"/>
                </a:solidFill>
                <a:latin typeface="Arial"/>
                <a:ea typeface="Arial"/>
                <a:cs typeface="Arial"/>
                <a:sym typeface="Arial"/>
              </a:rPr>
              <a:t>Compensación</a:t>
            </a:r>
            <a:endParaRPr b="0" i="0" spc="0" sz="24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9281160" y="4831080"/>
            <a:ext cx="224028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1" i="0" lang="es-ES" spc="0" sz="132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Contraste no confirma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9281160" y="5158740"/>
            <a:ext cx="2240280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Requiere diagnóstico; no hay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peor rating ni más rechazo.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37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 txBox="1"/>
          <p:nvPr/>
        </p:nvSpPr>
        <p:spPr>
          <a:xfrm>
            <a:off x="495300" y="304800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ES" spc="0" sz="1200" u="none" cap="none" strike="noStrike">
                <a:solidFill>
                  <a:srgbClr val="137A8A"/>
                </a:solidFill>
                <a:latin typeface="Arial"/>
                <a:ea typeface="Arial"/>
                <a:cs typeface="Arial"/>
                <a:sym typeface="Arial"/>
              </a:rPr>
              <a:t>ESCUCHA Y RETENCIÓN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"/>
          <p:cNvSpPr txBox="1"/>
          <p:nvPr/>
        </p:nvSpPr>
        <p:spPr>
          <a:xfrm>
            <a:off x="495300" y="647700"/>
            <a:ext cx="11201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40"/>
              <a:buFont typeface="Arial"/>
              <a:buNone/>
            </a:pPr>
            <a:r>
              <a:rPr b="1" i="0" lang="es-ES" spc="0" sz="294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Liderazgo aparece más entre antiguos empleados</a:t>
            </a:r>
            <a:endParaRPr b="0" i="0" spc="0" sz="29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457200" y="1394475"/>
            <a:ext cx="111252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pc="0" sz="150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Usar los temas para orientar entrevistas de salida y escuchar a los equipos.</a:t>
            </a:r>
            <a:endParaRPr b="0" i="0" spc="0" sz="1500" u="none" cap="none" strike="noStrike">
              <a:solidFill>
                <a:srgbClr val="536A7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1500">
                <a:solidFill>
                  <a:srgbClr val="536A7D"/>
                </a:solidFill>
              </a:rPr>
              <a:t>% Reseñas negativas</a:t>
            </a:r>
            <a:endParaRPr sz="1500">
              <a:solidFill>
                <a:srgbClr val="536A7D"/>
              </a:solidFill>
            </a:endParaRPr>
          </a:p>
        </p:txBody>
      </p:sp>
      <p:sp>
        <p:nvSpPr>
          <p:cNvPr id="183" name="Google Shape;183;p7"/>
          <p:cNvSpPr txBox="1"/>
          <p:nvPr/>
        </p:nvSpPr>
        <p:spPr>
          <a:xfrm>
            <a:off x="495300" y="6385560"/>
            <a:ext cx="10668000" cy="327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b="0" i="0" lang="es-ES" spc="0" sz="108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CompuCom: 538 actuales / 462 antiguos. Referencias antiguos: 234 / 156 / 347.</a:t>
            </a:r>
            <a:endParaRPr b="0" i="0" spc="0" sz="10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11277600" y="6416040"/>
            <a:ext cx="441960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b="0" i="0" lang="es-ES" spc="0" sz="108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pc="0" sz="10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9 actuales antiguos" id="185" name="Google Shape;18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804" y="2057400"/>
            <a:ext cx="7926792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"/>
          <p:cNvSpPr txBox="1"/>
          <p:nvPr/>
        </p:nvSpPr>
        <p:spPr>
          <a:xfrm>
            <a:off x="495300" y="6164580"/>
            <a:ext cx="8305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0"/>
              <a:buFont typeface="Arial"/>
              <a:buNone/>
            </a:pPr>
            <a:r>
              <a:t/>
            </a:r>
            <a:endParaRPr b="0" i="0" spc="0" sz="10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9105900" y="2171700"/>
            <a:ext cx="2590800" cy="18669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 txBox="1"/>
          <p:nvPr/>
        </p:nvSpPr>
        <p:spPr>
          <a:xfrm>
            <a:off x="9281160" y="2293620"/>
            <a:ext cx="224028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r>
              <a:rPr b="1" i="0" lang="es-ES" spc="0" sz="2880" u="none" cap="none" strike="noStrike">
                <a:solidFill>
                  <a:srgbClr val="137A8A"/>
                </a:solidFill>
                <a:latin typeface="Arial"/>
                <a:ea typeface="Arial"/>
                <a:cs typeface="Arial"/>
                <a:sym typeface="Arial"/>
              </a:rPr>
              <a:t>13,85 %</a:t>
            </a:r>
            <a:endParaRPr b="0" i="0" spc="0" sz="28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9281160" y="2887980"/>
            <a:ext cx="224028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1" i="0" lang="es-ES" spc="0" sz="132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Liderazgo en antiguos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 txBox="1"/>
          <p:nvPr/>
        </p:nvSpPr>
        <p:spPr>
          <a:xfrm>
            <a:off x="9281160" y="3215640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Actuales: 9,85 %.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Peers antiguos: 11,15 %.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9105900" y="4320540"/>
            <a:ext cx="2590800" cy="18288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 txBox="1"/>
          <p:nvPr/>
        </p:nvSpPr>
        <p:spPr>
          <a:xfrm>
            <a:off x="9281160" y="4442460"/>
            <a:ext cx="224028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</a:pPr>
            <a:r>
              <a:rPr b="1" i="0" lang="es-ES" spc="0" sz="2520" u="none" cap="none" strike="noStrike">
                <a:solidFill>
                  <a:srgbClr val="137A8A"/>
                </a:solidFill>
                <a:latin typeface="Arial"/>
                <a:ea typeface="Arial"/>
                <a:cs typeface="Arial"/>
                <a:sym typeface="Arial"/>
              </a:rPr>
              <a:t>Validar salidas</a:t>
            </a:r>
            <a:endParaRPr b="0" i="0" spc="0" sz="25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9281160" y="5036820"/>
            <a:ext cx="224028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1" i="0" lang="es-ES" spc="0" sz="132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Siguiente contraste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9281160" y="5364480"/>
            <a:ext cx="2240280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Combinar estos textos con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entrevistas y datos internos.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37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 txBox="1"/>
          <p:nvPr/>
        </p:nvSpPr>
        <p:spPr>
          <a:xfrm>
            <a:off x="495300" y="304800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ES" spc="0" sz="1200" u="none" cap="none" strike="noStrike">
                <a:solidFill>
                  <a:srgbClr val="137A8A"/>
                </a:solidFill>
                <a:latin typeface="Arial"/>
                <a:ea typeface="Arial"/>
                <a:cs typeface="Arial"/>
                <a:sym typeface="Arial"/>
              </a:rPr>
              <a:t>PRIORIDADES PARA RR. HH.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495300" y="647700"/>
            <a:ext cx="11201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40"/>
              <a:buFont typeface="Arial"/>
              <a:buNone/>
            </a:pPr>
            <a:r>
              <a:rPr b="1" i="0" lang="es-ES" spc="0" sz="294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Investigar liderazgo; auditar compensación</a:t>
            </a:r>
            <a:endParaRPr b="0" i="0" spc="0" sz="29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8"/>
          <p:cNvSpPr txBox="1"/>
          <p:nvPr/>
        </p:nvSpPr>
        <p:spPr>
          <a:xfrm>
            <a:off x="495300" y="1562100"/>
            <a:ext cx="1112520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pc="0" sz="150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Frecuencia y desventaja orientan el trabajo; el contraste decide qué validar.</a:t>
            </a:r>
            <a:endParaRPr b="0" i="0" spc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 txBox="1"/>
          <p:nvPr/>
        </p:nvSpPr>
        <p:spPr>
          <a:xfrm>
            <a:off x="495300" y="6385560"/>
            <a:ext cx="10668000" cy="327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b="0" i="0" lang="es-ES" spc="0" sz="108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Corte del 5 % = 50 reseñas: criterio operativo, no significación estadística.</a:t>
            </a:r>
            <a:endParaRPr b="0" i="0" spc="0" sz="10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 txBox="1"/>
          <p:nvPr/>
        </p:nvSpPr>
        <p:spPr>
          <a:xfrm>
            <a:off x="11277600" y="6416040"/>
            <a:ext cx="441960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b="0" i="0" lang="es-ES" spc="0" sz="108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pc="0" sz="10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0 matriz priorizacion" id="205" name="Google Shape;20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0789" y="2057400"/>
            <a:ext cx="7794823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8"/>
          <p:cNvSpPr txBox="1"/>
          <p:nvPr/>
        </p:nvSpPr>
        <p:spPr>
          <a:xfrm>
            <a:off x="495300" y="6164580"/>
            <a:ext cx="8305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0"/>
              <a:buFont typeface="Arial"/>
              <a:buNone/>
            </a:pPr>
            <a:r>
              <a:t/>
            </a:r>
            <a:endParaRPr b="0" i="0" spc="0" sz="10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9105900" y="2171700"/>
            <a:ext cx="2590800" cy="18288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 txBox="1"/>
          <p:nvPr/>
        </p:nvSpPr>
        <p:spPr>
          <a:xfrm>
            <a:off x="9281160" y="2293620"/>
            <a:ext cx="224028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</a:pPr>
            <a:r>
              <a:rPr b="1" i="0" lang="es-ES" spc="0" sz="2880" u="none" cap="none" strike="noStrike">
                <a:solidFill>
                  <a:srgbClr val="BB5148"/>
                </a:solidFill>
                <a:latin typeface="Arial"/>
                <a:ea typeface="Arial"/>
                <a:cs typeface="Arial"/>
                <a:sym typeface="Arial"/>
              </a:rPr>
              <a:t>Liderazgo</a:t>
            </a:r>
            <a:endParaRPr b="0" i="0" spc="0" sz="28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9281160" y="2887980"/>
            <a:ext cx="224028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1" i="0" lang="es-ES" spc="0" sz="132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Primera investigación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 txBox="1"/>
          <p:nvPr/>
        </p:nvSpPr>
        <p:spPr>
          <a:xfrm>
            <a:off x="9281160" y="3215640"/>
            <a:ext cx="2240280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Brecha frente al mercado y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peor valoración global.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9105900" y="4114800"/>
            <a:ext cx="2590800" cy="18288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 txBox="1"/>
          <p:nvPr/>
        </p:nvSpPr>
        <p:spPr>
          <a:xfrm>
            <a:off x="9281160" y="4236720"/>
            <a:ext cx="224028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0"/>
              <a:buFont typeface="Arial"/>
              <a:buNone/>
            </a:pPr>
            <a:r>
              <a:rPr b="1" i="0" lang="es-ES" spc="0" sz="2460" u="none" cap="none" strike="noStrike">
                <a:solidFill>
                  <a:srgbClr val="C99128"/>
                </a:solidFill>
                <a:latin typeface="Arial"/>
                <a:ea typeface="Arial"/>
                <a:cs typeface="Arial"/>
                <a:sym typeface="Arial"/>
              </a:rPr>
              <a:t>Compensación</a:t>
            </a:r>
            <a:endParaRPr b="0" i="0" spc="0" sz="24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 txBox="1"/>
          <p:nvPr/>
        </p:nvSpPr>
        <p:spPr>
          <a:xfrm>
            <a:off x="9281160" y="4831080"/>
            <a:ext cx="224028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1" i="0" lang="es-ES" spc="0" sz="132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Auditoría focalizada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 txBox="1"/>
          <p:nvPr/>
        </p:nvSpPr>
        <p:spPr>
          <a:xfrm>
            <a:off x="9281160" y="5158740"/>
            <a:ext cx="2240280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Comprobar equidad y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competitividad por puesto y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ubicación.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37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 txBox="1"/>
          <p:nvPr/>
        </p:nvSpPr>
        <p:spPr>
          <a:xfrm>
            <a:off x="495300" y="304800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ES" spc="0" sz="1200" u="none" cap="none" strike="noStrike">
                <a:solidFill>
                  <a:srgbClr val="137A8A"/>
                </a:solidFill>
                <a:latin typeface="Arial"/>
                <a:ea typeface="Arial"/>
                <a:cs typeface="Arial"/>
                <a:sym typeface="Arial"/>
              </a:rPr>
              <a:t>CONCLUSIONES Y PLAN DE ACCIÓN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495300" y="647700"/>
            <a:ext cx="11201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40"/>
              <a:buFont typeface="Arial"/>
              <a:buNone/>
            </a:pPr>
            <a:r>
              <a:rPr b="1" i="0" lang="es-ES" spc="0" sz="294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Tres acciones ligadas a la evidencia</a:t>
            </a:r>
            <a:endParaRPr b="0" i="0" spc="0" sz="29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9"/>
          <p:cNvSpPr txBox="1"/>
          <p:nvPr/>
        </p:nvSpPr>
        <p:spPr>
          <a:xfrm>
            <a:off x="495300" y="1562100"/>
            <a:ext cx="1112520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pc="0" sz="150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Plazos y métricas propuestos; fijar metas después de medir una línea base interna.</a:t>
            </a:r>
            <a:endParaRPr b="0" i="0" spc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495300" y="6385560"/>
            <a:ext cx="10668000" cy="327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b="0" i="0" lang="es-ES" spc="0" sz="108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No se prometen mejoras, ahorro ni reducción de rotación sin haberlos medido.</a:t>
            </a:r>
            <a:endParaRPr b="0" i="0" spc="0" sz="10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9"/>
          <p:cNvSpPr txBox="1"/>
          <p:nvPr/>
        </p:nvSpPr>
        <p:spPr>
          <a:xfrm>
            <a:off x="11277600" y="6416040"/>
            <a:ext cx="441960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b="0" i="0" lang="es-ES" spc="0" sz="108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pc="0" sz="10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495300" y="2125980"/>
            <a:ext cx="3467100" cy="390906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495300" y="2125980"/>
            <a:ext cx="3467100" cy="60960"/>
          </a:xfrm>
          <a:prstGeom prst="rect">
            <a:avLst/>
          </a:prstGeom>
          <a:solidFill>
            <a:srgbClr val="BB51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 txBox="1"/>
          <p:nvPr/>
        </p:nvSpPr>
        <p:spPr>
          <a:xfrm>
            <a:off x="670560" y="2316480"/>
            <a:ext cx="3124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Arial"/>
              <a:buNone/>
            </a:pPr>
            <a:r>
              <a:rPr b="1" i="0" lang="es-ES" spc="0" sz="1920" u="none" cap="none" strike="noStrike">
                <a:solidFill>
                  <a:srgbClr val="BB5148"/>
                </a:solidFill>
                <a:latin typeface="Arial"/>
                <a:ea typeface="Arial"/>
                <a:cs typeface="Arial"/>
                <a:sym typeface="Arial"/>
              </a:rPr>
              <a:t>01 · Liderazgo</a:t>
            </a:r>
            <a:endParaRPr b="0" i="0" spc="0" sz="19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670560" y="2804160"/>
            <a:ext cx="3124200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ES" spc="0" sz="150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117 quejas; brecha -5,23 pp.</a:t>
            </a:r>
            <a:endParaRPr b="0" i="0" spc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 txBox="1"/>
          <p:nvPr/>
        </p:nvSpPr>
        <p:spPr>
          <a:xfrm>
            <a:off x="670560" y="3520440"/>
            <a:ext cx="3124200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pc="0" sz="150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Escuchar a equipos y antiguos.</a:t>
            </a:r>
            <a:endParaRPr b="0" i="0" spc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pc="0" sz="150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Acordar un piloto de comunicación,</a:t>
            </a:r>
            <a:endParaRPr b="0" i="0" spc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pc="0" sz="150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trato y autonomía.</a:t>
            </a:r>
            <a:endParaRPr b="0" i="0" spc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670560" y="4579620"/>
            <a:ext cx="3124200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0"/>
              <a:buFont typeface="Arial"/>
              <a:buNone/>
            </a:pPr>
            <a:r>
              <a:rPr b="0" i="0" lang="es-ES" spc="0" sz="138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RR. HH. + responsables</a:t>
            </a:r>
            <a:endParaRPr b="0" i="0" spc="0" sz="13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0"/>
              <a:buFont typeface="Arial"/>
              <a:buNone/>
            </a:pPr>
            <a:r>
              <a:rPr b="0" i="0" lang="es-ES" spc="0" sz="138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30 días diagnóstico / 90 piloto</a:t>
            </a:r>
            <a:endParaRPr b="0" i="0" spc="0" sz="13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9"/>
          <p:cNvSpPr txBox="1"/>
          <p:nvPr/>
        </p:nvSpPr>
        <p:spPr>
          <a:xfrm>
            <a:off x="670560" y="5341620"/>
            <a:ext cx="3124200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Seguimiento: Pulso de apoyo y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autonomía; rotación voluntaria interna.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4229100" y="2125980"/>
            <a:ext cx="3467100" cy="390906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4229100" y="2125980"/>
            <a:ext cx="3467100" cy="60960"/>
          </a:xfrm>
          <a:prstGeom prst="rect">
            <a:avLst/>
          </a:prstGeom>
          <a:solidFill>
            <a:srgbClr val="C991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 txBox="1"/>
          <p:nvPr/>
        </p:nvSpPr>
        <p:spPr>
          <a:xfrm>
            <a:off x="4404360" y="2316480"/>
            <a:ext cx="3124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Arial"/>
              <a:buNone/>
            </a:pPr>
            <a:r>
              <a:rPr b="1" i="0" lang="es-ES" spc="0" sz="1920" u="none" cap="none" strike="noStrike">
                <a:solidFill>
                  <a:srgbClr val="C99128"/>
                </a:solidFill>
                <a:latin typeface="Arial"/>
                <a:ea typeface="Arial"/>
                <a:cs typeface="Arial"/>
                <a:sym typeface="Arial"/>
              </a:rPr>
              <a:t>02 · Compensación</a:t>
            </a:r>
            <a:endParaRPr b="0" i="0" spc="0" sz="19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9"/>
          <p:cNvSpPr txBox="1"/>
          <p:nvPr/>
        </p:nvSpPr>
        <p:spPr>
          <a:xfrm>
            <a:off x="4404360" y="2804160"/>
            <a:ext cx="3124200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ES" spc="0" sz="150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161 quejas; contraste no</a:t>
            </a:r>
            <a:endParaRPr b="0" i="0" spc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ES" spc="0" sz="150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confirma.</a:t>
            </a:r>
            <a:endParaRPr b="0" i="0" spc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9"/>
          <p:cNvSpPr txBox="1"/>
          <p:nvPr/>
        </p:nvSpPr>
        <p:spPr>
          <a:xfrm>
            <a:off x="4404360" y="3520440"/>
            <a:ext cx="3124200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pc="0" sz="150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Revisar equidad, competitividad y</a:t>
            </a:r>
            <a:endParaRPr b="0" i="0" spc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pc="0" sz="150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criterios de revisión por puesto y</a:t>
            </a:r>
            <a:endParaRPr b="0" i="0" spc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pc="0" sz="150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ubicación.</a:t>
            </a:r>
            <a:endParaRPr b="0" i="0" spc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9"/>
          <p:cNvSpPr txBox="1"/>
          <p:nvPr/>
        </p:nvSpPr>
        <p:spPr>
          <a:xfrm>
            <a:off x="4404360" y="4579620"/>
            <a:ext cx="3124200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0"/>
              <a:buFont typeface="Arial"/>
              <a:buNone/>
            </a:pPr>
            <a:r>
              <a:rPr b="0" i="0" lang="es-ES" spc="0" sz="138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Compensación y beneficios</a:t>
            </a:r>
            <a:endParaRPr b="0" i="0" spc="0" sz="13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0"/>
              <a:buFont typeface="Arial"/>
              <a:buNone/>
            </a:pPr>
            <a:r>
              <a:rPr b="0" i="0" lang="es-ES" spc="0" sz="138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60 días para auditoría</a:t>
            </a:r>
            <a:endParaRPr b="0" i="0" spc="0" sz="13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9"/>
          <p:cNvSpPr txBox="1"/>
          <p:nvPr/>
        </p:nvSpPr>
        <p:spPr>
          <a:xfrm>
            <a:off x="4404360" y="5341620"/>
            <a:ext cx="3124200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Seguimiento: Brechas por puesto y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percepción de equidad.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7962900" y="2125980"/>
            <a:ext cx="3467100" cy="390906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7962900" y="2125980"/>
            <a:ext cx="3467100" cy="60960"/>
          </a:xfrm>
          <a:prstGeom prst="rect">
            <a:avLst/>
          </a:prstGeom>
          <a:solidFill>
            <a:srgbClr val="137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 txBox="1"/>
          <p:nvPr/>
        </p:nvSpPr>
        <p:spPr>
          <a:xfrm>
            <a:off x="8138160" y="2316480"/>
            <a:ext cx="3124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Arial"/>
              <a:buNone/>
            </a:pPr>
            <a:r>
              <a:rPr b="1" i="0" lang="es-ES" spc="0" sz="1920" u="none" cap="none" strike="noStrike">
                <a:solidFill>
                  <a:srgbClr val="137A8A"/>
                </a:solidFill>
                <a:latin typeface="Arial"/>
                <a:ea typeface="Arial"/>
                <a:cs typeface="Arial"/>
                <a:sym typeface="Arial"/>
              </a:rPr>
              <a:t>03 · Aprendizaje</a:t>
            </a:r>
            <a:endParaRPr b="0" i="0" spc="0" sz="19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9"/>
          <p:cNvSpPr txBox="1"/>
          <p:nvPr/>
        </p:nvSpPr>
        <p:spPr>
          <a:xfrm>
            <a:off x="8138160" y="2804160"/>
            <a:ext cx="3124200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ES" spc="0" sz="150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Brecha sensible: -1,30 a 4,83 pp.</a:t>
            </a:r>
            <a:endParaRPr b="0" i="0" spc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8138160" y="3520440"/>
            <a:ext cx="3124200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pc="0" sz="150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Validar formación con empleados y</a:t>
            </a:r>
            <a:endParaRPr b="0" i="0" spc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pc="0" sz="150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responsables. Comunicarla si se</a:t>
            </a:r>
            <a:endParaRPr b="0" i="0" spc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pc="0" sz="150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confirma.</a:t>
            </a:r>
            <a:endParaRPr b="0" i="0" spc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"/>
          <p:cNvSpPr txBox="1"/>
          <p:nvPr/>
        </p:nvSpPr>
        <p:spPr>
          <a:xfrm>
            <a:off x="8138160" y="4579620"/>
            <a:ext cx="3124200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0"/>
              <a:buFont typeface="Arial"/>
              <a:buNone/>
            </a:pPr>
            <a:r>
              <a:rPr b="0" i="0" lang="es-ES" spc="0" sz="138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Selección + responsables</a:t>
            </a:r>
            <a:endParaRPr b="0" i="0" spc="0" sz="13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0"/>
              <a:buFont typeface="Arial"/>
              <a:buNone/>
            </a:pPr>
            <a:r>
              <a:rPr b="0" i="0" lang="es-ES" spc="0" sz="138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30 días revisión / 60 validación</a:t>
            </a:r>
            <a:endParaRPr b="0" i="0" spc="0" sz="13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8138160" y="5341620"/>
            <a:ext cx="3124200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Seguimiento: Experiencia formativa por rol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</a:pPr>
            <a:r>
              <a:rPr b="0" i="0" lang="es-ES" spc="0" sz="132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y ejemplos verificados.</a:t>
            </a:r>
            <a:endParaRPr b="0" i="0" spc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37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 txBox="1"/>
          <p:nvPr/>
        </p:nvSpPr>
        <p:spPr>
          <a:xfrm>
            <a:off x="495300" y="304800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ES" spc="0" sz="1200" u="none" cap="none" strike="noStrike">
                <a:solidFill>
                  <a:srgbClr val="137A8A"/>
                </a:solidFill>
                <a:latin typeface="Arial"/>
                <a:ea typeface="Arial"/>
                <a:cs typeface="Arial"/>
                <a:sym typeface="Arial"/>
              </a:rPr>
              <a:t>LIMITACIONES Y PRÓXIMOS PASOS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0"/>
          <p:cNvSpPr txBox="1"/>
          <p:nvPr/>
        </p:nvSpPr>
        <p:spPr>
          <a:xfrm>
            <a:off x="495300" y="647700"/>
            <a:ext cx="11201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40"/>
              <a:buFont typeface="Arial"/>
              <a:buNone/>
            </a:pPr>
            <a:r>
              <a:rPr b="1" i="0" lang="es-ES" spc="0" sz="294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Validar dentro de la empresa antes de generalizar</a:t>
            </a:r>
            <a:endParaRPr b="0" i="0" spc="0" sz="29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0"/>
          <p:cNvSpPr txBox="1"/>
          <p:nvPr/>
        </p:nvSpPr>
        <p:spPr>
          <a:xfrm>
            <a:off x="495300" y="1562100"/>
            <a:ext cx="1112520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pc="0" sz="150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La cobertura parcial obliga a combinar reseñas con escucha y datos internos.</a:t>
            </a:r>
            <a:endParaRPr b="0" i="0" spc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"/>
          <p:cNvSpPr txBox="1"/>
          <p:nvPr/>
        </p:nvSpPr>
        <p:spPr>
          <a:xfrm>
            <a:off x="495300" y="6385560"/>
            <a:ext cx="10668000" cy="327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b="0" i="0" lang="es-ES" spc="0" sz="108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Datos históricos de 2018–2023; asociaciones descriptivas, no causas demostradas.</a:t>
            </a:r>
            <a:endParaRPr b="0" i="0" spc="0" sz="10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0"/>
          <p:cNvSpPr txBox="1"/>
          <p:nvPr/>
        </p:nvSpPr>
        <p:spPr>
          <a:xfrm>
            <a:off x="11277600" y="6416040"/>
            <a:ext cx="441960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b="0" i="0" lang="es-ES" spc="0" sz="108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pc="0" sz="10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495300" y="2133600"/>
            <a:ext cx="3467100" cy="119634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 txBox="1"/>
          <p:nvPr/>
        </p:nvSpPr>
        <p:spPr>
          <a:xfrm>
            <a:off x="670560" y="2255520"/>
            <a:ext cx="3124200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s-ES" spc="0" sz="2700" u="none" cap="none" strike="noStrike">
                <a:solidFill>
                  <a:srgbClr val="137A8A"/>
                </a:solidFill>
                <a:latin typeface="Arial"/>
                <a:ea typeface="Arial"/>
                <a:cs typeface="Arial"/>
                <a:sym typeface="Arial"/>
              </a:rPr>
              <a:t>38,9 %</a:t>
            </a:r>
            <a:endParaRPr b="0" i="0" spc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0"/>
          <p:cNvSpPr txBox="1"/>
          <p:nvPr/>
        </p:nvSpPr>
        <p:spPr>
          <a:xfrm>
            <a:off x="670560" y="2811780"/>
            <a:ext cx="3124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r>
              <a:rPr b="0" i="0" lang="es-ES" spc="0" sz="144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Cons con categoría accionable</a:t>
            </a:r>
            <a:endParaRPr b="0" i="0" spc="0" sz="14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4229100" y="2133600"/>
            <a:ext cx="3467100" cy="119634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 txBox="1"/>
          <p:nvPr/>
        </p:nvSpPr>
        <p:spPr>
          <a:xfrm>
            <a:off x="4404360" y="2255520"/>
            <a:ext cx="3124200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s-ES" spc="0" sz="2700" u="none" cap="none" strike="noStrike">
                <a:solidFill>
                  <a:srgbClr val="137A8A"/>
                </a:solidFill>
                <a:latin typeface="Arial"/>
                <a:ea typeface="Arial"/>
                <a:cs typeface="Arial"/>
                <a:sym typeface="Arial"/>
              </a:rPr>
              <a:t>44,2 %</a:t>
            </a:r>
            <a:endParaRPr b="0" i="0" spc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0"/>
          <p:cNvSpPr txBox="1"/>
          <p:nvPr/>
        </p:nvSpPr>
        <p:spPr>
          <a:xfrm>
            <a:off x="4404360" y="2811780"/>
            <a:ext cx="3124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r>
              <a:rPr b="0" i="0" lang="es-ES" spc="0" sz="144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Cons sin tema asignado</a:t>
            </a:r>
            <a:endParaRPr b="0" i="0" spc="0" sz="14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7962900" y="2133600"/>
            <a:ext cx="3467100" cy="119634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 txBox="1"/>
          <p:nvPr/>
        </p:nvSpPr>
        <p:spPr>
          <a:xfrm>
            <a:off x="8138160" y="2255520"/>
            <a:ext cx="3124200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s-ES" spc="0" sz="2700" u="none" cap="none" strike="noStrike">
                <a:solidFill>
                  <a:srgbClr val="137A8A"/>
                </a:solidFill>
                <a:latin typeface="Arial"/>
                <a:ea typeface="Arial"/>
                <a:cs typeface="Arial"/>
                <a:sym typeface="Arial"/>
              </a:rPr>
              <a:t>2018–2023</a:t>
            </a:r>
            <a:endParaRPr b="0" i="0" spc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0"/>
          <p:cNvSpPr txBox="1"/>
          <p:nvPr/>
        </p:nvSpPr>
        <p:spPr>
          <a:xfrm>
            <a:off x="8138160" y="2811780"/>
            <a:ext cx="3124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r>
              <a:rPr b="0" i="0" lang="es-ES" spc="0" sz="144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Reseñas históricas; validar el presente</a:t>
            </a:r>
            <a:endParaRPr b="0" i="0" spc="0" sz="14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495300" y="3535680"/>
            <a:ext cx="5181600" cy="250698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5981700" y="3535680"/>
            <a:ext cx="5676900" cy="2506980"/>
          </a:xfrm>
          <a:prstGeom prst="rect">
            <a:avLst/>
          </a:prstGeom>
          <a:solidFill>
            <a:srgbClr val="EA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 txBox="1"/>
          <p:nvPr/>
        </p:nvSpPr>
        <p:spPr>
          <a:xfrm>
            <a:off x="685800" y="3695700"/>
            <a:ext cx="4762500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1" i="0" lang="es-ES" spc="0" sz="198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Qué limita la lectura</a:t>
            </a:r>
            <a:endParaRPr b="0" i="0" spc="0" sz="19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0"/>
          <p:cNvSpPr txBox="1"/>
          <p:nvPr/>
        </p:nvSpPr>
        <p:spPr>
          <a:xfrm>
            <a:off x="685800" y="4191000"/>
            <a:ext cx="4762500" cy="1684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0"/>
              <a:buFont typeface="Arial"/>
              <a:buNone/>
            </a:pPr>
            <a:r>
              <a:rPr b="0" i="0" lang="es-ES" spc="0" sz="156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Participación voluntaria en Glassdoor.</a:t>
            </a:r>
            <a:endParaRPr b="0" i="0" spc="0" sz="1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0"/>
              <a:buFont typeface="Arial"/>
              <a:buNone/>
            </a:pPr>
            <a:r>
              <a:rPr b="0" i="0" lang="es-ES" spc="0" sz="156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Países y puestos mezclados.</a:t>
            </a:r>
            <a:endParaRPr b="0" i="0" spc="0" sz="1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0"/>
              <a:buFont typeface="Arial"/>
              <a:buNone/>
            </a:pPr>
            <a:r>
              <a:rPr b="0" i="0" lang="es-ES" spc="0" sz="156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Textos ambiguos y etiquetas imperfectas.</a:t>
            </a:r>
            <a:endParaRPr b="0" i="0" spc="0" sz="1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0"/>
              <a:buFont typeface="Arial"/>
              <a:buNone/>
            </a:pPr>
            <a:r>
              <a:t/>
            </a:r>
            <a:endParaRPr b="0" i="0" spc="0" sz="1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0"/>
              <a:buFont typeface="Arial"/>
              <a:buNone/>
            </a:pPr>
            <a:r>
              <a:rPr b="0" i="0" lang="es-ES" spc="0" sz="156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Los modelos comparan grupos comunes; los textos</a:t>
            </a:r>
            <a:endParaRPr b="0" i="0" spc="0" sz="1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0"/>
              <a:buFont typeface="Arial"/>
              <a:buNone/>
            </a:pPr>
            <a:r>
              <a:rPr b="0" i="0" lang="es-ES" spc="0" sz="1560" u="none" cap="none" strike="noStrike">
                <a:solidFill>
                  <a:srgbClr val="536A7D"/>
                </a:solidFill>
                <a:latin typeface="Arial"/>
                <a:ea typeface="Arial"/>
                <a:cs typeface="Arial"/>
                <a:sym typeface="Arial"/>
              </a:rPr>
              <a:t>dudosos se conservan.</a:t>
            </a:r>
            <a:endParaRPr b="0" i="0" spc="0" sz="1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0"/>
          <p:cNvSpPr txBox="1"/>
          <p:nvPr/>
        </p:nvSpPr>
        <p:spPr>
          <a:xfrm>
            <a:off x="6195060" y="3695700"/>
            <a:ext cx="5227320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1" i="0" lang="es-ES" spc="0" sz="1980" u="none" cap="none" strike="noStrike">
                <a:solidFill>
                  <a:srgbClr val="137A8A"/>
                </a:solidFill>
                <a:latin typeface="Arial"/>
                <a:ea typeface="Arial"/>
                <a:cs typeface="Arial"/>
                <a:sym typeface="Arial"/>
              </a:rPr>
              <a:t>Qué hacer después</a:t>
            </a:r>
            <a:endParaRPr b="0" i="0" spc="0" sz="19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0"/>
          <p:cNvSpPr txBox="1"/>
          <p:nvPr/>
        </p:nvSpPr>
        <p:spPr>
          <a:xfrm>
            <a:off x="6195060" y="4191000"/>
            <a:ext cx="5227320" cy="1684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0"/>
              <a:buFont typeface="Arial"/>
              <a:buNone/>
            </a:pPr>
            <a:r>
              <a:rPr b="0" i="0" lang="es-ES" spc="0" sz="156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1. Contrastar con entrevistas y pulsos internos.</a:t>
            </a:r>
            <a:endParaRPr b="0" i="0" spc="0" sz="1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0"/>
              <a:buFont typeface="Arial"/>
              <a:buNone/>
            </a:pPr>
            <a:r>
              <a:t/>
            </a:r>
            <a:endParaRPr b="0" i="0" spc="0" sz="1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0"/>
              <a:buFont typeface="Arial"/>
              <a:buNone/>
            </a:pPr>
            <a:r>
              <a:rPr b="0" i="0" lang="es-ES" spc="0" sz="156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2. Segmentar por puesto y país si hay datos.</a:t>
            </a:r>
            <a:endParaRPr b="0" i="0" spc="0" sz="1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0"/>
              <a:buFont typeface="Arial"/>
              <a:buNone/>
            </a:pPr>
            <a:r>
              <a:t/>
            </a:r>
            <a:endParaRPr b="0" i="0" spc="0" sz="1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0"/>
              <a:buFont typeface="Arial"/>
              <a:buNone/>
            </a:pPr>
            <a:r>
              <a:rPr b="0" i="0" lang="es-ES" spc="0" sz="156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3. Revisar más textos y evaluar clasificación con varias</a:t>
            </a:r>
            <a:endParaRPr b="0" i="0" spc="0" sz="1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0"/>
              <a:buFont typeface="Arial"/>
              <a:buNone/>
            </a:pPr>
            <a:r>
              <a:rPr b="0" i="0" lang="es-ES" spc="0" sz="1560" u="none" cap="none" strike="noStrike">
                <a:solidFill>
                  <a:srgbClr val="152B3B"/>
                </a:solidFill>
                <a:latin typeface="Arial"/>
                <a:ea typeface="Arial"/>
                <a:cs typeface="Arial"/>
                <a:sym typeface="Arial"/>
              </a:rPr>
              <a:t>etiquetas.</a:t>
            </a:r>
            <a:endParaRPr b="0" i="0" spc="0" sz="1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